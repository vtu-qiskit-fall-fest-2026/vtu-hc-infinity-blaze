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6" r:id="rId6"/>
    <p:sldId id="260" r:id="rId7"/>
    <p:sldId id="261" r:id="rId8"/>
    <p:sldId id="267" r:id="rId9"/>
    <p:sldId id="262" r:id="rId10"/>
    <p:sldId id="268" r:id="rId11"/>
    <p:sldId id="269" r:id="rId12"/>
    <p:sldId id="263" r:id="rId13"/>
    <p:sldId id="270" r:id="rId14"/>
    <p:sldId id="264" r:id="rId15"/>
    <p:sldId id="265" r:id="rId16"/>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07818-9A4F-68DE-4CA3-4F510EEF1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C08D0-7620-B1EB-80D4-F6408324FD8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539C27-1561-E485-7CEA-F577B4AB06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6C68B1-BAD1-2860-7DA5-40F9E4D0AF8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26465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4AF0F-3B5E-1ACB-3254-6ECD2417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0DDF2-136F-8C6A-0389-0944F52CB87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27008A8-84FA-8952-00DD-CCB64916CD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0FFC3D-F663-E63E-BB89-0160E2A48D6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18103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FE011-AFBD-BD92-4698-8601C38A7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41FA5-1DEE-4808-F06A-1D7D12E3FC2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C4A168A-9E27-0641-0B66-B06DC504F8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A140C5-6344-FAD9-99BC-5EDEEE689CC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26100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ACE02-1AC9-9F01-13C9-94CF5CCE8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9D134-5D27-CF54-AA05-43C4E4C86C0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2754094-33DE-3535-6B85-88360D66FB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EB02C2-C87E-F079-03FD-6BC281BADA3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622278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58B89-E7B9-75DF-FCA1-956341B5E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5FAEF-C896-E591-1651-761A8BC3AC6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BC6C844-D531-A732-A489-75FEE82A75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D0F04D-4A4E-4C78-716F-1FAC69F8E66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10892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vtu-qiskit-fall-fest-2026/vtu-hc-infinity-blaze" TargetMode="External"/><Relationship Id="rId7"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3840480" y="1261872"/>
            <a:ext cx="484632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r>
              <a:rPr lang="en-IN" sz="1200" dirty="0">
                <a:solidFill>
                  <a:schemeClr val="bg1">
                    <a:lumMod val="50000"/>
                  </a:schemeClr>
                </a:solidFill>
              </a:rPr>
              <a:t>QuantumGreen AI — Quantum-Powered Sustainable Energy Optimizer</a:t>
            </a:r>
            <a:endParaRPr lang="en-US" sz="900" dirty="0">
              <a:solidFill>
                <a:schemeClr val="bg1">
                  <a:lumMod val="50000"/>
                </a:schemeClr>
              </a:solidFill>
            </a:endParaRPr>
          </a:p>
        </p:txBody>
      </p:sp>
      <p:sp>
        <p:nvSpPr>
          <p:cNvPr id="11" name="Field: TRACK"/>
          <p:cNvSpPr/>
          <p:nvPr/>
        </p:nvSpPr>
        <p:spPr>
          <a:xfrm>
            <a:off x="3840480" y="1865376"/>
            <a:ext cx="2286000"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r>
              <a:rPr lang="en-US" sz="900" b="1" kern="0" spc="100" dirty="0">
                <a:solidFill>
                  <a:srgbClr val="5B3BA8"/>
                </a:solidFill>
                <a:latin typeface="Calibri" pitchFamily="34" charset="0"/>
                <a:ea typeface="Calibri" pitchFamily="34" charset="-122"/>
                <a:cs typeface="Calibri" pitchFamily="34" charset="-120"/>
              </a:rPr>
              <a:t>TRACK</a:t>
            </a:r>
          </a:p>
          <a:p>
            <a:r>
              <a:rPr lang="en-IN" sz="1050" dirty="0">
                <a:solidFill>
                  <a:schemeClr val="bg1">
                    <a:lumMod val="50000"/>
                  </a:schemeClr>
                </a:solidFill>
              </a:rPr>
              <a:t>Quantum Applications for Climate Change and Sustainability</a:t>
            </a:r>
            <a:endParaRPr lang="en-US" sz="400" dirty="0">
              <a:solidFill>
                <a:schemeClr val="bg1">
                  <a:lumMod val="50000"/>
                </a:schemeClr>
              </a:solidFill>
            </a:endParaRPr>
          </a:p>
        </p:txBody>
      </p:sp>
      <p:sp>
        <p:nvSpPr>
          <p:cNvPr id="12" name="Field: TEAM NAME"/>
          <p:cNvSpPr/>
          <p:nvPr/>
        </p:nvSpPr>
        <p:spPr>
          <a:xfrm>
            <a:off x="6326459" y="1865376"/>
            <a:ext cx="2360341"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a:p>
            <a:r>
              <a:rPr lang="en-IN" sz="1200" dirty="0">
                <a:solidFill>
                  <a:schemeClr val="bg1">
                    <a:lumMod val="50000"/>
                  </a:schemeClr>
                </a:solidFill>
              </a:rPr>
              <a:t>Infinity Blaze</a:t>
            </a:r>
          </a:p>
        </p:txBody>
      </p:sp>
      <p:sp>
        <p:nvSpPr>
          <p:cNvPr id="13" name="Field: TEAM LEADER"/>
          <p:cNvSpPr/>
          <p:nvPr/>
        </p:nvSpPr>
        <p:spPr>
          <a:xfrm>
            <a:off x="3840480" y="24917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dirty="0">
                <a:solidFill>
                  <a:srgbClr val="6F7399"/>
                </a:solidFill>
                <a:latin typeface="Calibri" pitchFamily="34" charset="0"/>
                <a:ea typeface="Calibri" pitchFamily="34" charset="-122"/>
                <a:cs typeface="Calibri" pitchFamily="34" charset="-120"/>
              </a:rPr>
              <a:t>Purvesh Raghatate</a:t>
            </a:r>
            <a:endParaRPr lang="en-US" sz="900" dirty="0"/>
          </a:p>
        </p:txBody>
      </p:sp>
      <p:sp>
        <p:nvSpPr>
          <p:cNvPr id="14" name="Field: EMAIL / CONTACT"/>
          <p:cNvSpPr/>
          <p:nvPr/>
        </p:nvSpPr>
        <p:spPr>
          <a:xfrm>
            <a:off x="6326459" y="2487168"/>
            <a:ext cx="2360341"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p>
          <a:p>
            <a:pPr marL="0" indent="0" algn="l">
              <a:buNone/>
            </a:pPr>
            <a:r>
              <a:rPr lang="en-US" sz="1100" kern="0" spc="100" dirty="0">
                <a:solidFill>
                  <a:schemeClr val="bg1">
                    <a:lumMod val="50000"/>
                  </a:schemeClr>
                </a:solidFill>
                <a:latin typeface="Calibri" pitchFamily="34" charset="0"/>
                <a:ea typeface="Calibri" pitchFamily="34" charset="-122"/>
                <a:cs typeface="Calibri" pitchFamily="34" charset="-120"/>
              </a:rPr>
              <a:t>purweshraghatate@gmail.com</a:t>
            </a:r>
            <a:endParaRPr lang="en-US" sz="1100" dirty="0">
              <a:solidFill>
                <a:schemeClr val="bg1">
                  <a:lumMod val="50000"/>
                </a:schemeClr>
              </a:solidFill>
            </a:endParaRPr>
          </a:p>
        </p:txBody>
      </p:sp>
      <p:sp>
        <p:nvSpPr>
          <p:cNvPr id="15" name="Field: TEAM MEMBERS"/>
          <p:cNvSpPr/>
          <p:nvPr/>
        </p:nvSpPr>
        <p:spPr>
          <a:xfrm>
            <a:off x="3840480" y="3072384"/>
            <a:ext cx="484632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r>
              <a:rPr lang="en-IN" sz="1200" dirty="0">
                <a:solidFill>
                  <a:schemeClr val="bg1">
                    <a:lumMod val="50000"/>
                  </a:schemeClr>
                </a:solidFill>
              </a:rPr>
              <a:t>Purvesh Raghatate  </a:t>
            </a:r>
            <a:r>
              <a:rPr lang="en-US" sz="1200" i="1" dirty="0">
                <a:solidFill>
                  <a:schemeClr val="bg1">
                    <a:lumMod val="50000"/>
                  </a:schemeClr>
                </a:solidFill>
                <a:latin typeface="Calibri" pitchFamily="34" charset="0"/>
                <a:ea typeface="Calibri" pitchFamily="34" charset="-122"/>
                <a:cs typeface="Calibri" pitchFamily="34" charset="-120"/>
              </a:rPr>
              <a:t>·  </a:t>
            </a:r>
            <a:r>
              <a:rPr lang="en-IN" sz="1200" dirty="0">
                <a:solidFill>
                  <a:schemeClr val="bg1">
                    <a:lumMod val="50000"/>
                  </a:schemeClr>
                </a:solidFill>
              </a:rPr>
              <a:t>Sahil Jadhao</a:t>
            </a:r>
            <a:r>
              <a:rPr lang="en-US" sz="900" i="1" dirty="0">
                <a:solidFill>
                  <a:schemeClr val="bg1">
                    <a:lumMod val="50000"/>
                  </a:schemeClr>
                </a:solidFill>
                <a:latin typeface="Calibri" pitchFamily="34" charset="0"/>
                <a:ea typeface="Calibri" pitchFamily="34" charset="-122"/>
                <a:cs typeface="Calibri" pitchFamily="34" charset="-120"/>
              </a:rPr>
              <a:t>  </a:t>
            </a:r>
            <a:r>
              <a:rPr lang="en-US" sz="1200" i="1" dirty="0">
                <a:solidFill>
                  <a:schemeClr val="bg1">
                    <a:lumMod val="50000"/>
                  </a:schemeClr>
                </a:solidFill>
                <a:latin typeface="Calibri" pitchFamily="34" charset="0"/>
                <a:ea typeface="Calibri" pitchFamily="34" charset="-122"/>
                <a:cs typeface="Calibri" pitchFamily="34" charset="-120"/>
              </a:rPr>
              <a:t>·  </a:t>
            </a:r>
            <a:r>
              <a:rPr lang="en-IN" sz="1200" dirty="0">
                <a:solidFill>
                  <a:schemeClr val="bg1">
                    <a:lumMod val="50000"/>
                  </a:schemeClr>
                </a:solidFill>
              </a:rPr>
              <a:t>Manish Rajak</a:t>
            </a:r>
            <a:endParaRPr lang="en-US" sz="900" dirty="0">
              <a:solidFill>
                <a:schemeClr val="bg1">
                  <a:lumMod val="50000"/>
                </a:schemeClr>
              </a:solidFill>
            </a:endParaRPr>
          </a:p>
        </p:txBody>
      </p:sp>
      <p:sp>
        <p:nvSpPr>
          <p:cNvPr id="16" name="Field: INSTITUTION / ORGANISATION"/>
          <p:cNvSpPr/>
          <p:nvPr/>
        </p:nvSpPr>
        <p:spPr>
          <a:xfrm>
            <a:off x="3840481" y="3922776"/>
            <a:ext cx="2485978"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800" b="1" kern="0" spc="100" dirty="0">
                <a:solidFill>
                  <a:srgbClr val="5B3BA8"/>
                </a:solidFill>
                <a:latin typeface="Calibri" pitchFamily="34" charset="0"/>
                <a:ea typeface="Calibri" pitchFamily="34" charset="-122"/>
                <a:cs typeface="Calibri" pitchFamily="34" charset="-120"/>
              </a:rPr>
              <a:t>INSTITUTION / ORGANISATION</a:t>
            </a:r>
            <a:endParaRPr lang="en-US" sz="800" dirty="0"/>
          </a:p>
          <a:p>
            <a:pPr marL="0" indent="0" algn="l">
              <a:buNone/>
            </a:pPr>
            <a:r>
              <a:rPr lang="en-US" sz="1000" dirty="0">
                <a:solidFill>
                  <a:schemeClr val="bg1">
                    <a:lumMod val="50000"/>
                  </a:schemeClr>
                </a:solidFill>
              </a:rPr>
              <a:t>Yeshwantrao Chavan College of Engineering</a:t>
            </a:r>
          </a:p>
        </p:txBody>
      </p:sp>
      <p:sp>
        <p:nvSpPr>
          <p:cNvPr id="17" name="Field: COUNTRY"/>
          <p:cNvSpPr/>
          <p:nvPr/>
        </p:nvSpPr>
        <p:spPr>
          <a:xfrm>
            <a:off x="6400800" y="3922776"/>
            <a:ext cx="2286000"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a:p>
            <a:pPr marL="0" indent="0" algn="l">
              <a:buNone/>
            </a:pPr>
            <a:r>
              <a:rPr lang="en-US" sz="1200" dirty="0">
                <a:solidFill>
                  <a:srgbClr val="6F7399"/>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8" name="Text 6"/>
          <p:cNvSpPr txBox="1"/>
          <p:nvPr/>
        </p:nvSpPr>
        <p:spPr>
          <a:xfrm>
            <a:off x="792628" y="1872159"/>
            <a:ext cx="7340327" cy="2677539"/>
          </a:xfrm>
          <a:prstGeom prst="rect">
            <a:avLst/>
          </a:prstGeom>
          <a:noFill/>
          <a:ln/>
        </p:spPr>
        <p:txBody>
          <a:bodyPr wrap="square" lIns="0" tIns="0" rIns="0" bIns="0" rtlCol="0" anchor="t"/>
          <a:lstStyle/>
          <a:p>
            <a:r>
              <a:rPr lang="en-IN" sz="1400" dirty="0"/>
              <a:t>Today, electricity demand changes throughout the day. Solar power generation also changes depending on sunlight and weather. Electricity prices may vary by time.</a:t>
            </a:r>
          </a:p>
          <a:p>
            <a:r>
              <a:rPr lang="en-IN" sz="1400" dirty="0"/>
              <a:t>Because of this, homes, businesses, and solar installation companies may not always use available solar energy at the best time. They may use more electricity from the grid, which can increase electricity costs.</a:t>
            </a:r>
          </a:p>
          <a:p>
            <a:endParaRPr lang="en-IN" sz="1400" dirty="0"/>
          </a:p>
          <a:p>
            <a:r>
              <a:rPr lang="en-IN" sz="1400" dirty="0"/>
              <a:t>Our project, </a:t>
            </a:r>
            <a:r>
              <a:rPr lang="en-IN" sz="1400" b="1" dirty="0"/>
              <a:t>QuantumGreen AI</a:t>
            </a:r>
            <a:r>
              <a:rPr lang="en-IN" sz="1400" dirty="0"/>
              <a:t>, aims to help users choose better time slots for flexible electricity use by comparing electricity demand, solar generation, and electricity prices.</a:t>
            </a:r>
          </a:p>
          <a:p>
            <a:endParaRPr lang="en-IN" sz="1400" dirty="0"/>
          </a:p>
          <a:p>
            <a:r>
              <a:rPr lang="en-IN" sz="1400" b="1" dirty="0"/>
              <a:t>Main problem: </a:t>
            </a:r>
            <a:r>
              <a:rPr lang="en-IN" sz="1400" dirty="0"/>
              <a:t>How can we choose the best time slots to reduce estimated electricity costs while making better use of available solar energy?</a:t>
            </a:r>
          </a:p>
          <a:p>
            <a:endParaRPr lang="en-IN"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dirty="0"/>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p:cNvSpPr txBox="1"/>
          <p:nvPr/>
        </p:nvSpPr>
        <p:spPr>
          <a:xfrm>
            <a:off x="731520" y="1874519"/>
            <a:ext cx="3200400" cy="2593403"/>
          </a:xfrm>
          <a:prstGeom prst="rect">
            <a:avLst/>
          </a:prstGeom>
          <a:noFill/>
          <a:ln/>
        </p:spPr>
        <p:txBody>
          <a:bodyPr wrap="square" lIns="0" tIns="0" rIns="0" bIns="0" rtlCol="0" anchor="t"/>
          <a:lstStyle/>
          <a:p>
            <a:r>
              <a:rPr lang="en-IN" sz="1200" b="1" dirty="0"/>
              <a:t>Objectives</a:t>
            </a:r>
          </a:p>
          <a:p>
            <a:endParaRPr lang="en-IN" sz="1200" b="1" dirty="0"/>
          </a:p>
          <a:p>
            <a:pPr marL="171450" lvl="0" indent="-171450">
              <a:buFont typeface="Arial" panose="020B0604020202020204" pitchFamily="34" charset="0"/>
              <a:buChar char="•"/>
            </a:pPr>
            <a:r>
              <a:rPr lang="en-IN" sz="1200" dirty="0"/>
              <a:t>Reduce estimated electricity costs by selecting suitable time slots.</a:t>
            </a:r>
          </a:p>
          <a:p>
            <a:pPr marL="171450" lvl="0" indent="-171450">
              <a:buFont typeface="Arial" panose="020B0604020202020204" pitchFamily="34" charset="0"/>
              <a:buChar char="•"/>
            </a:pPr>
            <a:r>
              <a:rPr lang="en-IN" sz="1200" dirty="0"/>
              <a:t>Compare electricity demand, solar generation, and electricity prices.</a:t>
            </a:r>
          </a:p>
          <a:p>
            <a:pPr marL="171450" lvl="0" indent="-171450">
              <a:buFont typeface="Arial" panose="020B0604020202020204" pitchFamily="34" charset="0"/>
              <a:buChar char="•"/>
            </a:pPr>
            <a:r>
              <a:rPr lang="en-IN" sz="1200" dirty="0"/>
              <a:t>Use an optimization algorithm to find a low-cost schedule.</a:t>
            </a:r>
          </a:p>
          <a:p>
            <a:pPr marL="171450" lvl="0" indent="-171450">
              <a:buFont typeface="Arial" panose="020B0604020202020204" pitchFamily="34" charset="0"/>
              <a:buChar char="•"/>
            </a:pPr>
            <a:r>
              <a:rPr lang="en-IN" sz="1200" dirty="0"/>
              <a:t>Explore QAOA, a quantum-inspired-by-quantum-computing approach, for the scheduling problem.</a:t>
            </a:r>
          </a:p>
          <a:p>
            <a:pPr marL="171450" lvl="0" indent="-171450">
              <a:buFont typeface="Arial" panose="020B0604020202020204" pitchFamily="34" charset="0"/>
              <a:buChar char="•"/>
            </a:pPr>
            <a:r>
              <a:rPr lang="en-IN" sz="1200" dirty="0"/>
              <a:t>Show the results in a simple, interactive dashboard.</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
        <p:nvSpPr>
          <p:cNvPr id="12" name="TextBox 11">
            <a:extLst>
              <a:ext uri="{FF2B5EF4-FFF2-40B4-BE49-F238E27FC236}">
                <a16:creationId xmlns:a16="http://schemas.microsoft.com/office/drawing/2014/main" id="{5098F859-4563-3505-294F-9D70FB2BCAF4}"/>
              </a:ext>
            </a:extLst>
          </p:cNvPr>
          <p:cNvSpPr txBox="1"/>
          <p:nvPr/>
        </p:nvSpPr>
        <p:spPr>
          <a:xfrm>
            <a:off x="4395811" y="1770836"/>
            <a:ext cx="3925229" cy="2800767"/>
          </a:xfrm>
          <a:prstGeom prst="rect">
            <a:avLst/>
          </a:prstGeom>
          <a:noFill/>
        </p:spPr>
        <p:txBody>
          <a:bodyPr wrap="square" rtlCol="0">
            <a:spAutoFit/>
          </a:bodyPr>
          <a:lstStyle/>
          <a:p>
            <a:r>
              <a:rPr lang="en-IN" sz="1100" b="1" dirty="0"/>
              <a:t>What is new about our project?</a:t>
            </a:r>
          </a:p>
          <a:p>
            <a:endParaRPr lang="en-IN" sz="1100" b="1" dirty="0"/>
          </a:p>
          <a:p>
            <a:r>
              <a:rPr lang="en-IN" sz="1100" dirty="0"/>
              <a:t>The main idea is to combine sustainable energy scheduling with quantum optimization techniques in one simple dashboard.</a:t>
            </a:r>
          </a:p>
          <a:p>
            <a:r>
              <a:rPr lang="en-IN" sz="1100" dirty="0"/>
              <a:t>Our prototype compares two approaches:</a:t>
            </a:r>
          </a:p>
          <a:p>
            <a:endParaRPr lang="en-IN" sz="1100" dirty="0"/>
          </a:p>
          <a:p>
            <a:pPr lvl="0"/>
            <a:r>
              <a:rPr lang="en-IN" sz="1100" b="1" dirty="0"/>
              <a:t>1)Classical optimization: </a:t>
            </a:r>
            <a:r>
              <a:rPr lang="en-IN" sz="1100" dirty="0"/>
              <a:t>Checks all possible schedules for the four available time slots and finds the best valid one.</a:t>
            </a:r>
          </a:p>
          <a:p>
            <a:pPr lvl="0"/>
            <a:endParaRPr lang="en-IN" sz="1100" dirty="0"/>
          </a:p>
          <a:p>
            <a:pPr lvl="0"/>
            <a:r>
              <a:rPr lang="en-IN" sz="1100" b="1" dirty="0"/>
              <a:t>2)QAOA: </a:t>
            </a:r>
            <a:r>
              <a:rPr lang="en-IN" sz="1100" dirty="0"/>
              <a:t>Uses a quantum circuit simulation and a classical optimizer to search for a good schedule.</a:t>
            </a:r>
          </a:p>
          <a:p>
            <a:pPr lvl="0"/>
            <a:endParaRPr lang="en-IN" sz="1100" dirty="0"/>
          </a:p>
          <a:p>
            <a:r>
              <a:rPr lang="en-IN" sz="1100" dirty="0"/>
              <a:t>This comparison helps us study how quantum optimization methods could be used for future energy problems.</a:t>
            </a:r>
          </a:p>
          <a:p>
            <a:r>
              <a:rPr lang="en-IN" sz="1100" dirty="0"/>
              <a:t>Note: This is a prototype using sample data. It does not yet predict future energy demand or control real electrical devices.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300674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txBody>
          <a:bodyPr/>
          <a:lstStyle/>
          <a:p>
            <a:endParaRPr lang="en-IN"/>
          </a:p>
        </p:txBody>
      </p:sp>
      <p:sp>
        <p:nvSpPr>
          <p:cNvPr id="8" name="Text 6"/>
          <p:cNvSpPr txBox="1"/>
          <p:nvPr/>
        </p:nvSpPr>
        <p:spPr>
          <a:xfrm>
            <a:off x="685799" y="1844782"/>
            <a:ext cx="7878337" cy="2538539"/>
          </a:xfrm>
          <a:prstGeom prst="rect">
            <a:avLst/>
          </a:prstGeom>
          <a:noFill/>
          <a:ln/>
        </p:spPr>
        <p:txBody>
          <a:bodyPr wrap="square" lIns="0" tIns="0" rIns="0" bIns="0" rtlCol="0" anchor="t"/>
          <a:lstStyle/>
          <a:p>
            <a:r>
              <a:rPr lang="en-IN" sz="1200" b="1" dirty="0"/>
              <a:t>Our solution</a:t>
            </a:r>
          </a:p>
          <a:p>
            <a:r>
              <a:rPr lang="en-IN" sz="1200" dirty="0"/>
              <a:t>QuantumGreen AI follows these basic steps:</a:t>
            </a:r>
          </a:p>
          <a:p>
            <a:endParaRPr lang="en-IN" sz="1200" dirty="0"/>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pic>
        <p:nvPicPr>
          <p:cNvPr id="10" name="Picture 9">
            <a:extLst>
              <a:ext uri="{FF2B5EF4-FFF2-40B4-BE49-F238E27FC236}">
                <a16:creationId xmlns:a16="http://schemas.microsoft.com/office/drawing/2014/main" id="{2790E339-9359-871D-979B-C715B90438F0}"/>
              </a:ext>
            </a:extLst>
          </p:cNvPr>
          <p:cNvPicPr>
            <a:picLocks noChangeAspect="1"/>
          </p:cNvPicPr>
          <p:nvPr/>
        </p:nvPicPr>
        <p:blipFill>
          <a:blip r:embed="rId3"/>
          <a:stretch>
            <a:fillRect/>
          </a:stretch>
        </p:blipFill>
        <p:spPr>
          <a:xfrm>
            <a:off x="685799" y="2206702"/>
            <a:ext cx="4692970" cy="24916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B7DDA-271C-349F-A4E4-0D461F6095CF}"/>
            </a:ext>
          </a:extLst>
        </p:cNvPr>
        <p:cNvGrpSpPr/>
        <p:nvPr/>
      </p:nvGrpSpPr>
      <p:grpSpPr>
        <a:xfrm>
          <a:off x="0" y="0"/>
          <a:ext cx="0" cy="0"/>
          <a:chOff x="0" y="0"/>
          <a:chExt cx="0" cy="0"/>
        </a:xfrm>
      </p:grpSpPr>
      <p:sp>
        <p:nvSpPr>
          <p:cNvPr id="2" name="Text 14">
            <a:extLst>
              <a:ext uri="{FF2B5EF4-FFF2-40B4-BE49-F238E27FC236}">
                <a16:creationId xmlns:a16="http://schemas.microsoft.com/office/drawing/2014/main" id="{D2852D7B-12A2-51B4-A02C-61680D2C851A}"/>
              </a:ext>
            </a:extLst>
          </p:cNvPr>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a:extLst>
              <a:ext uri="{FF2B5EF4-FFF2-40B4-BE49-F238E27FC236}">
                <a16:creationId xmlns:a16="http://schemas.microsoft.com/office/drawing/2014/main" id="{52A8810A-F791-F5B4-38DB-A193B821FF0A}"/>
              </a:ext>
            </a:extLst>
          </p:cNvPr>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a:extLst>
              <a:ext uri="{FF2B5EF4-FFF2-40B4-BE49-F238E27FC236}">
                <a16:creationId xmlns:a16="http://schemas.microsoft.com/office/drawing/2014/main" id="{327625B6-C94F-E5D3-7703-58DE9B767BBA}"/>
              </a:ext>
            </a:extLst>
          </p:cNvPr>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a:extLst>
              <a:ext uri="{FF2B5EF4-FFF2-40B4-BE49-F238E27FC236}">
                <a16:creationId xmlns:a16="http://schemas.microsoft.com/office/drawing/2014/main" id="{E907F241-FD0E-1339-3136-EF4EE8DB65C3}"/>
              </a:ext>
            </a:extLst>
          </p:cNvPr>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a:extLst>
              <a:ext uri="{FF2B5EF4-FFF2-40B4-BE49-F238E27FC236}">
                <a16:creationId xmlns:a16="http://schemas.microsoft.com/office/drawing/2014/main" id="{B1F302F9-15B9-FFB6-8F40-7AB787CF0040}"/>
              </a:ext>
            </a:extLst>
          </p:cNvPr>
          <p:cNvSpPr/>
          <p:nvPr/>
        </p:nvSpPr>
        <p:spPr>
          <a:xfrm>
            <a:off x="457200" y="1691640"/>
            <a:ext cx="8229600" cy="300674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a:extLst>
              <a:ext uri="{FF2B5EF4-FFF2-40B4-BE49-F238E27FC236}">
                <a16:creationId xmlns:a16="http://schemas.microsoft.com/office/drawing/2014/main" id="{14E437C2-41C9-42C8-E26E-21368C01FEEE}"/>
              </a:ext>
            </a:extLst>
          </p:cNvPr>
          <p:cNvSpPr/>
          <p:nvPr/>
        </p:nvSpPr>
        <p:spPr>
          <a:xfrm>
            <a:off x="685800" y="1691640"/>
            <a:ext cx="822960" cy="54864"/>
          </a:xfrm>
          <a:prstGeom prst="rect">
            <a:avLst/>
          </a:prstGeom>
          <a:solidFill>
            <a:srgbClr val="5B3BA8"/>
          </a:solidFill>
          <a:ln w="12700">
            <a:solidFill>
              <a:srgbClr val="5B3BA8"/>
            </a:solidFill>
            <a:prstDash val="solid"/>
          </a:ln>
        </p:spPr>
        <p:txBody>
          <a:bodyPr/>
          <a:lstStyle/>
          <a:p>
            <a:endParaRPr lang="en-IN"/>
          </a:p>
        </p:txBody>
      </p:sp>
      <p:sp>
        <p:nvSpPr>
          <p:cNvPr id="8" name="Text 6">
            <a:extLst>
              <a:ext uri="{FF2B5EF4-FFF2-40B4-BE49-F238E27FC236}">
                <a16:creationId xmlns:a16="http://schemas.microsoft.com/office/drawing/2014/main" id="{BAEC22E4-9D6F-24C5-F74C-58F0F09B0BF9}"/>
              </a:ext>
            </a:extLst>
          </p:cNvPr>
          <p:cNvSpPr txBox="1"/>
          <p:nvPr/>
        </p:nvSpPr>
        <p:spPr>
          <a:xfrm>
            <a:off x="585216" y="1912732"/>
            <a:ext cx="7878337" cy="2538539"/>
          </a:xfrm>
          <a:prstGeom prst="rect">
            <a:avLst/>
          </a:prstGeom>
          <a:noFill/>
          <a:ln/>
        </p:spPr>
        <p:txBody>
          <a:bodyPr wrap="square" lIns="0" tIns="0" rIns="0" bIns="0" rtlCol="0" anchor="t"/>
          <a:lstStyle/>
          <a:p>
            <a:r>
              <a:rPr lang="en-IN" sz="1200" b="1" dirty="0"/>
              <a:t>What is quantum advantage?</a:t>
            </a:r>
          </a:p>
          <a:p>
            <a:endParaRPr lang="en-IN" sz="1200" b="1" dirty="0"/>
          </a:p>
          <a:p>
            <a:r>
              <a:rPr lang="en-IN" sz="1200" dirty="0"/>
              <a:t>Quantum computing uses quantum bits, called </a:t>
            </a:r>
            <a:r>
              <a:rPr lang="en-IN" sz="1200" b="1" dirty="0"/>
              <a:t>qubits</a:t>
            </a:r>
            <a:r>
              <a:rPr lang="en-IN" sz="1200" dirty="0"/>
              <a:t>, to process information using quantum principles. QAOA stands for Quantum Approximate Optimization Algorithm. It is designed to search for good solutions to optimization problems.</a:t>
            </a:r>
          </a:p>
          <a:p>
            <a:endParaRPr lang="en-IN" sz="1200" dirty="0"/>
          </a:p>
          <a:p>
            <a:r>
              <a:rPr lang="en-IN" sz="1200" dirty="0"/>
              <a:t>Our project simulates QAOA using software on a normal computer. It does </a:t>
            </a:r>
            <a:r>
              <a:rPr lang="en-IN" sz="1200" b="1" dirty="0"/>
              <a:t>not</a:t>
            </a:r>
            <a:r>
              <a:rPr lang="en-IN" sz="1200" dirty="0"/>
              <a:t> currently run on a real quantum computer.</a:t>
            </a:r>
          </a:p>
          <a:p>
            <a:endParaRPr lang="en-IN" sz="1200" dirty="0"/>
          </a:p>
          <a:p>
            <a:r>
              <a:rPr lang="en-IN" sz="1200" b="1" dirty="0"/>
              <a:t>Have we achieved quantum advantage? </a:t>
            </a:r>
            <a:r>
              <a:rPr lang="en-IN" sz="1200" dirty="0"/>
              <a:t>No, not yet. Quantum advantage means demonstrating that a quantum approach performs better than the best relevant classical approach under a fair comparison. Our project explores the method; it does not prove quantum advantage or guaranteed cost savings.</a:t>
            </a:r>
          </a:p>
          <a:p>
            <a:endParaRPr lang="en-IN" sz="1200" dirty="0"/>
          </a:p>
          <a:p>
            <a:pPr marL="0" indent="0">
              <a:buNone/>
            </a:pPr>
            <a:endParaRPr lang="en-US" sz="1200" dirty="0"/>
          </a:p>
        </p:txBody>
      </p:sp>
      <p:sp>
        <p:nvSpPr>
          <p:cNvPr id="25" name="Slide Number Placeholder 0">
            <a:extLst>
              <a:ext uri="{FF2B5EF4-FFF2-40B4-BE49-F238E27FC236}">
                <a16:creationId xmlns:a16="http://schemas.microsoft.com/office/drawing/2014/main" id="{0F2A1B01-AB18-8F94-EDE6-E05D0AC7807B}"/>
              </a:ext>
            </a:extLst>
          </p:cNvPr>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spTree>
    <p:extLst>
      <p:ext uri="{BB962C8B-B14F-4D97-AF65-F5344CB8AC3E}">
        <p14:creationId xmlns:p14="http://schemas.microsoft.com/office/powerpoint/2010/main" val="875567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txBody>
          <a:bodyPr/>
          <a:lstStyle/>
          <a:p>
            <a:endParaRPr lang="en-IN"/>
          </a:p>
        </p:txBody>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circuit diagram</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e.g. qc.draw("mpl")</a:t>
            </a:r>
            <a:endParaRPr lang="en-US" sz="1400" dirty="0"/>
          </a:p>
        </p:txBody>
      </p:sp>
      <p:sp>
        <p:nvSpPr>
          <p:cNvPr id="8" name="Content card"/>
          <p:cNvSpPr/>
          <p:nvPr/>
        </p:nvSpPr>
        <p:spPr>
          <a:xfrm>
            <a:off x="5577839" y="1691640"/>
            <a:ext cx="3402609"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80644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10" name="Text 8"/>
          <p:cNvSpPr txBox="1"/>
          <p:nvPr/>
        </p:nvSpPr>
        <p:spPr>
          <a:xfrm>
            <a:off x="5669280" y="1874520"/>
            <a:ext cx="3200400" cy="2427732"/>
          </a:xfrm>
          <a:prstGeom prst="rect">
            <a:avLst/>
          </a:prstGeom>
          <a:noFill/>
          <a:ln/>
        </p:spPr>
        <p:txBody>
          <a:bodyPr wrap="square" lIns="0" tIns="0" rIns="0" bIns="0" rtlCol="0" anchor="t"/>
          <a:lstStyle/>
          <a:p>
            <a:r>
              <a:rPr lang="en-IN" sz="1200" b="1" dirty="0"/>
              <a:t>Algorithm in simple steps:</a:t>
            </a:r>
          </a:p>
          <a:p>
            <a:endParaRPr lang="en-IN" sz="1200" b="1" dirty="0"/>
          </a:p>
          <a:p>
            <a:pPr marL="228600" lvl="0" indent="-228600">
              <a:buAutoNum type="arabicParenR"/>
            </a:pPr>
            <a:r>
              <a:rPr lang="en-IN" sz="1200" dirty="0"/>
              <a:t>Load the sample energy data.</a:t>
            </a:r>
          </a:p>
          <a:p>
            <a:pPr lvl="0"/>
            <a:r>
              <a:rPr lang="en-IN" sz="1200" dirty="0"/>
              <a:t>2) Create a cost function for possible schedules.</a:t>
            </a:r>
          </a:p>
          <a:p>
            <a:pPr lvl="0"/>
            <a:r>
              <a:rPr lang="en-IN" sz="1200" dirty="0"/>
              <a:t>3) Run the classical optimizer to find the exact best schedule.</a:t>
            </a:r>
          </a:p>
          <a:p>
            <a:pPr lvl="0"/>
            <a:r>
              <a:rPr lang="en-IN" sz="1200" dirty="0"/>
              <a:t>4) Initialize QAOA parameters, gamma and beta.</a:t>
            </a:r>
          </a:p>
          <a:p>
            <a:pPr lvl="0"/>
            <a:r>
              <a:rPr lang="en-IN" sz="1200" dirty="0"/>
              <a:t>5) Simulate the QAOA circuit and sample candidate schedules.</a:t>
            </a:r>
          </a:p>
          <a:p>
            <a:pPr lvl="0"/>
            <a:r>
              <a:rPr lang="en-IN" sz="1200" dirty="0"/>
              <a:t>6) Calculate the cost of the sampled schedules.</a:t>
            </a:r>
          </a:p>
          <a:p>
            <a:pPr lvl="0"/>
            <a:r>
              <a:rPr lang="en-IN" sz="1200" dirty="0"/>
              <a:t>7) Adjust the QAOA parameters and repeat the circuit.</a:t>
            </a:r>
          </a:p>
          <a:p>
            <a:pPr lvl="0"/>
            <a:r>
              <a:rPr lang="en-IN" sz="1200" dirty="0"/>
              <a:t>8) Display the best observed valid QAOA schedule and compare it with the classical result.</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pic>
        <p:nvPicPr>
          <p:cNvPr id="14" name="Picture 13">
            <a:extLst>
              <a:ext uri="{FF2B5EF4-FFF2-40B4-BE49-F238E27FC236}">
                <a16:creationId xmlns:a16="http://schemas.microsoft.com/office/drawing/2014/main" id="{69A9BCE7-BCD9-143F-4DF9-24D27312F882}"/>
              </a:ext>
            </a:extLst>
          </p:cNvPr>
          <p:cNvPicPr>
            <a:picLocks noChangeAspect="1"/>
          </p:cNvPicPr>
          <p:nvPr/>
        </p:nvPicPr>
        <p:blipFill>
          <a:blip r:embed="rId3"/>
          <a:stretch>
            <a:fillRect/>
          </a:stretch>
        </p:blipFill>
        <p:spPr>
          <a:xfrm>
            <a:off x="466347" y="1719072"/>
            <a:ext cx="4919466" cy="289134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p:cNvSpPr txBox="1"/>
          <p:nvPr/>
        </p:nvSpPr>
        <p:spPr>
          <a:xfrm>
            <a:off x="731520" y="1874519"/>
            <a:ext cx="7676500" cy="2533929"/>
          </a:xfrm>
          <a:prstGeom prst="rect">
            <a:avLst/>
          </a:prstGeom>
          <a:noFill/>
          <a:ln/>
        </p:spPr>
        <p:txBody>
          <a:bodyPr wrap="square" lIns="0" tIns="0" rIns="0" bIns="0" rtlCol="0" anchor="t"/>
          <a:lstStyle/>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graphicFrame>
        <p:nvGraphicFramePr>
          <p:cNvPr id="9" name="Table 8">
            <a:extLst>
              <a:ext uri="{FF2B5EF4-FFF2-40B4-BE49-F238E27FC236}">
                <a16:creationId xmlns:a16="http://schemas.microsoft.com/office/drawing/2014/main" id="{97F147CE-A46A-FB70-ECC9-D0A014DDF014}"/>
              </a:ext>
            </a:extLst>
          </p:cNvPr>
          <p:cNvGraphicFramePr>
            <a:graphicFrameLocks noGrp="1"/>
          </p:cNvGraphicFramePr>
          <p:nvPr>
            <p:extLst>
              <p:ext uri="{D42A27DB-BD31-4B8C-83A1-F6EECF244321}">
                <p14:modId xmlns:p14="http://schemas.microsoft.com/office/powerpoint/2010/main" val="3297623725"/>
              </p:ext>
            </p:extLst>
          </p:nvPr>
        </p:nvGraphicFramePr>
        <p:xfrm>
          <a:off x="285770" y="1529438"/>
          <a:ext cx="8568000" cy="3211726"/>
        </p:xfrm>
        <a:graphic>
          <a:graphicData uri="http://schemas.openxmlformats.org/drawingml/2006/table">
            <a:tbl>
              <a:tblPr>
                <a:tableStyleId>{F5AB1C69-6EDB-4FF4-983F-18BD219EF322}</a:tableStyleId>
              </a:tblPr>
              <a:tblGrid>
                <a:gridCol w="4105488">
                  <a:extLst>
                    <a:ext uri="{9D8B030D-6E8A-4147-A177-3AD203B41FA5}">
                      <a16:colId xmlns:a16="http://schemas.microsoft.com/office/drawing/2014/main" val="3794636125"/>
                    </a:ext>
                  </a:extLst>
                </a:gridCol>
                <a:gridCol w="4462512">
                  <a:extLst>
                    <a:ext uri="{9D8B030D-6E8A-4147-A177-3AD203B41FA5}">
                      <a16:colId xmlns:a16="http://schemas.microsoft.com/office/drawing/2014/main" val="977302479"/>
                    </a:ext>
                  </a:extLst>
                </a:gridCol>
              </a:tblGrid>
              <a:tr h="326607">
                <a:tc>
                  <a:txBody>
                    <a:bodyPr/>
                    <a:lstStyle/>
                    <a:p>
                      <a:pPr>
                        <a:buNone/>
                      </a:pPr>
                      <a:r>
                        <a:rPr lang="en-IN" sz="1600" b="1" dirty="0"/>
                        <a:t>Technology</a:t>
                      </a:r>
                    </a:p>
                  </a:txBody>
                  <a:tcPr marL="83649" marR="83649" marT="41825" marB="41825" anchor="ctr"/>
                </a:tc>
                <a:tc>
                  <a:txBody>
                    <a:bodyPr/>
                    <a:lstStyle/>
                    <a:p>
                      <a:pPr>
                        <a:buNone/>
                      </a:pPr>
                      <a:r>
                        <a:rPr lang="en-IN" sz="1600" b="1" dirty="0"/>
                        <a:t>Purpose</a:t>
                      </a:r>
                    </a:p>
                  </a:txBody>
                  <a:tcPr marL="83649" marR="83649" marT="41825" marB="41825" anchor="ctr"/>
                </a:tc>
                <a:extLst>
                  <a:ext uri="{0D108BD9-81ED-4DB2-BD59-A6C34878D82A}">
                    <a16:rowId xmlns:a16="http://schemas.microsoft.com/office/drawing/2014/main" val="2606927465"/>
                  </a:ext>
                </a:extLst>
              </a:tr>
              <a:tr h="326607">
                <a:tc>
                  <a:txBody>
                    <a:bodyPr/>
                    <a:lstStyle/>
                    <a:p>
                      <a:pPr>
                        <a:buNone/>
                      </a:pPr>
                      <a:r>
                        <a:rPr lang="en-IN" sz="1600" dirty="0"/>
                        <a:t>Python</a:t>
                      </a:r>
                    </a:p>
                  </a:txBody>
                  <a:tcPr marL="83649" marR="83649" marT="41825" marB="41825" anchor="ctr"/>
                </a:tc>
                <a:tc>
                  <a:txBody>
                    <a:bodyPr/>
                    <a:lstStyle/>
                    <a:p>
                      <a:pPr>
                        <a:buNone/>
                      </a:pPr>
                      <a:r>
                        <a:rPr lang="en-IN" sz="1600" dirty="0"/>
                        <a:t>Main programming language</a:t>
                      </a:r>
                    </a:p>
                  </a:txBody>
                  <a:tcPr marL="83649" marR="83649" marT="41825" marB="41825" anchor="ctr"/>
                </a:tc>
                <a:extLst>
                  <a:ext uri="{0D108BD9-81ED-4DB2-BD59-A6C34878D82A}">
                    <a16:rowId xmlns:a16="http://schemas.microsoft.com/office/drawing/2014/main" val="172045481"/>
                  </a:ext>
                </a:extLst>
              </a:tr>
              <a:tr h="347966">
                <a:tc>
                  <a:txBody>
                    <a:bodyPr/>
                    <a:lstStyle/>
                    <a:p>
                      <a:pPr>
                        <a:buNone/>
                      </a:pPr>
                      <a:r>
                        <a:rPr lang="en-IN" sz="1600" dirty="0" err="1"/>
                        <a:t>Streamlit</a:t>
                      </a:r>
                      <a:endParaRPr lang="en-IN" sz="1600" dirty="0"/>
                    </a:p>
                  </a:txBody>
                  <a:tcPr marL="83649" marR="83649" marT="41825" marB="41825" anchor="ctr"/>
                </a:tc>
                <a:tc>
                  <a:txBody>
                    <a:bodyPr/>
                    <a:lstStyle/>
                    <a:p>
                      <a:pPr>
                        <a:buNone/>
                      </a:pPr>
                      <a:r>
                        <a:rPr lang="en-IN" sz="1600" dirty="0"/>
                        <a:t>Creates the interactive web dashboard</a:t>
                      </a:r>
                    </a:p>
                  </a:txBody>
                  <a:tcPr marL="83649" marR="83649" marT="41825" marB="41825" anchor="ctr"/>
                </a:tc>
                <a:extLst>
                  <a:ext uri="{0D108BD9-81ED-4DB2-BD59-A6C34878D82A}">
                    <a16:rowId xmlns:a16="http://schemas.microsoft.com/office/drawing/2014/main" val="2247277761"/>
                  </a:ext>
                </a:extLst>
              </a:tr>
              <a:tr h="326607">
                <a:tc>
                  <a:txBody>
                    <a:bodyPr/>
                    <a:lstStyle/>
                    <a:p>
                      <a:pPr>
                        <a:buNone/>
                      </a:pPr>
                      <a:r>
                        <a:rPr lang="en-IN" sz="1600"/>
                        <a:t>NumPy</a:t>
                      </a:r>
                    </a:p>
                  </a:txBody>
                  <a:tcPr marL="83649" marR="83649" marT="41825" marB="41825" anchor="ctr"/>
                </a:tc>
                <a:tc>
                  <a:txBody>
                    <a:bodyPr/>
                    <a:lstStyle/>
                    <a:p>
                      <a:pPr>
                        <a:buNone/>
                      </a:pPr>
                      <a:r>
                        <a:rPr lang="en-IN" sz="1600"/>
                        <a:t>Numerical calculations</a:t>
                      </a:r>
                    </a:p>
                  </a:txBody>
                  <a:tcPr marL="83649" marR="83649" marT="41825" marB="41825" anchor="ctr"/>
                </a:tc>
                <a:extLst>
                  <a:ext uri="{0D108BD9-81ED-4DB2-BD59-A6C34878D82A}">
                    <a16:rowId xmlns:a16="http://schemas.microsoft.com/office/drawing/2014/main" val="1503828080"/>
                  </a:ext>
                </a:extLst>
              </a:tr>
              <a:tr h="326607">
                <a:tc>
                  <a:txBody>
                    <a:bodyPr/>
                    <a:lstStyle/>
                    <a:p>
                      <a:pPr>
                        <a:buNone/>
                      </a:pPr>
                      <a:r>
                        <a:rPr lang="en-IN" sz="1600" dirty="0"/>
                        <a:t>Pandas</a:t>
                      </a:r>
                    </a:p>
                  </a:txBody>
                  <a:tcPr marL="83649" marR="83649" marT="41825" marB="41825" anchor="ctr"/>
                </a:tc>
                <a:tc>
                  <a:txBody>
                    <a:bodyPr/>
                    <a:lstStyle/>
                    <a:p>
                      <a:pPr>
                        <a:buNone/>
                      </a:pPr>
                      <a:r>
                        <a:rPr lang="en-IN" sz="1600" dirty="0"/>
                        <a:t>Stores and processes energy data</a:t>
                      </a:r>
                    </a:p>
                  </a:txBody>
                  <a:tcPr marL="83649" marR="83649" marT="41825" marB="41825" anchor="ctr"/>
                </a:tc>
                <a:extLst>
                  <a:ext uri="{0D108BD9-81ED-4DB2-BD59-A6C34878D82A}">
                    <a16:rowId xmlns:a16="http://schemas.microsoft.com/office/drawing/2014/main" val="3693121656"/>
                  </a:ext>
                </a:extLst>
              </a:tr>
              <a:tr h="326607">
                <a:tc>
                  <a:txBody>
                    <a:bodyPr/>
                    <a:lstStyle/>
                    <a:p>
                      <a:pPr>
                        <a:buNone/>
                      </a:pPr>
                      <a:r>
                        <a:rPr lang="en-IN" sz="1600" dirty="0" err="1"/>
                        <a:t>Plotly</a:t>
                      </a:r>
                      <a:endParaRPr lang="en-IN" sz="1600" dirty="0"/>
                    </a:p>
                  </a:txBody>
                  <a:tcPr marL="83649" marR="83649" marT="41825" marB="41825" anchor="ctr"/>
                </a:tc>
                <a:tc>
                  <a:txBody>
                    <a:bodyPr/>
                    <a:lstStyle/>
                    <a:p>
                      <a:pPr>
                        <a:buNone/>
                      </a:pPr>
                      <a:r>
                        <a:rPr lang="en-IN" sz="1600"/>
                        <a:t>Displays charts and graphs</a:t>
                      </a:r>
                    </a:p>
                  </a:txBody>
                  <a:tcPr marL="83649" marR="83649" marT="41825" marB="41825" anchor="ctr"/>
                </a:tc>
                <a:extLst>
                  <a:ext uri="{0D108BD9-81ED-4DB2-BD59-A6C34878D82A}">
                    <a16:rowId xmlns:a16="http://schemas.microsoft.com/office/drawing/2014/main" val="3650736180"/>
                  </a:ext>
                </a:extLst>
              </a:tr>
              <a:tr h="326607">
                <a:tc>
                  <a:txBody>
                    <a:bodyPr/>
                    <a:lstStyle/>
                    <a:p>
                      <a:pPr>
                        <a:buNone/>
                      </a:pPr>
                      <a:r>
                        <a:rPr lang="en-IN" sz="1600"/>
                        <a:t>Qiskit</a:t>
                      </a:r>
                    </a:p>
                  </a:txBody>
                  <a:tcPr marL="83649" marR="83649" marT="41825" marB="41825" anchor="ctr"/>
                </a:tc>
                <a:tc>
                  <a:txBody>
                    <a:bodyPr/>
                    <a:lstStyle/>
                    <a:p>
                      <a:pPr>
                        <a:buNone/>
                      </a:pPr>
                      <a:r>
                        <a:rPr lang="en-IN" sz="1600"/>
                        <a:t>Builds the QAOA quantum circuit</a:t>
                      </a:r>
                    </a:p>
                  </a:txBody>
                  <a:tcPr marL="83649" marR="83649" marT="41825" marB="41825" anchor="ctr"/>
                </a:tc>
                <a:extLst>
                  <a:ext uri="{0D108BD9-81ED-4DB2-BD59-A6C34878D82A}">
                    <a16:rowId xmlns:a16="http://schemas.microsoft.com/office/drawing/2014/main" val="3603603510"/>
                  </a:ext>
                </a:extLst>
              </a:tr>
              <a:tr h="569789">
                <a:tc>
                  <a:txBody>
                    <a:bodyPr/>
                    <a:lstStyle/>
                    <a:p>
                      <a:pPr>
                        <a:buNone/>
                      </a:pPr>
                      <a:r>
                        <a:rPr lang="en-IN" sz="1600"/>
                        <a:t>Qiskit Aer</a:t>
                      </a:r>
                    </a:p>
                  </a:txBody>
                  <a:tcPr marL="83649" marR="83649" marT="41825" marB="41825" anchor="ctr"/>
                </a:tc>
                <a:tc>
                  <a:txBody>
                    <a:bodyPr/>
                    <a:lstStyle/>
                    <a:p>
                      <a:pPr>
                        <a:buNone/>
                      </a:pPr>
                      <a:r>
                        <a:rPr lang="en-IN" sz="1600" dirty="0"/>
                        <a:t>Simulates the quantum circuit on a classical computer</a:t>
                      </a:r>
                    </a:p>
                  </a:txBody>
                  <a:tcPr marL="83649" marR="83649" marT="41825" marB="41825" anchor="ctr"/>
                </a:tc>
                <a:extLst>
                  <a:ext uri="{0D108BD9-81ED-4DB2-BD59-A6C34878D82A}">
                    <a16:rowId xmlns:a16="http://schemas.microsoft.com/office/drawing/2014/main" val="1812757070"/>
                  </a:ext>
                </a:extLst>
              </a:tr>
              <a:tr h="326607">
                <a:tc>
                  <a:txBody>
                    <a:bodyPr/>
                    <a:lstStyle/>
                    <a:p>
                      <a:pPr>
                        <a:buNone/>
                      </a:pPr>
                      <a:r>
                        <a:rPr lang="en-IN" sz="1600" dirty="0"/>
                        <a:t>SciPy</a:t>
                      </a:r>
                    </a:p>
                  </a:txBody>
                  <a:tcPr marL="83649" marR="83649" marT="41825" marB="41825" anchor="ctr"/>
                </a:tc>
                <a:tc>
                  <a:txBody>
                    <a:bodyPr/>
                    <a:lstStyle/>
                    <a:p>
                      <a:pPr>
                        <a:buNone/>
                      </a:pPr>
                      <a:r>
                        <a:rPr lang="en-IN" sz="1600" dirty="0"/>
                        <a:t>Optimizes the QAOA parameters</a:t>
                      </a:r>
                    </a:p>
                  </a:txBody>
                  <a:tcPr marL="83649" marR="83649" marT="41825" marB="41825" anchor="ctr"/>
                </a:tc>
                <a:extLst>
                  <a:ext uri="{0D108BD9-81ED-4DB2-BD59-A6C34878D82A}">
                    <a16:rowId xmlns:a16="http://schemas.microsoft.com/office/drawing/2014/main" val="13348328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28D6D-8449-F74A-535E-B2EF5D88D7EC}"/>
            </a:ext>
          </a:extLst>
        </p:cNvPr>
        <p:cNvGrpSpPr/>
        <p:nvPr/>
      </p:nvGrpSpPr>
      <p:grpSpPr>
        <a:xfrm>
          <a:off x="0" y="0"/>
          <a:ext cx="0" cy="0"/>
          <a:chOff x="0" y="0"/>
          <a:chExt cx="0" cy="0"/>
        </a:xfrm>
      </p:grpSpPr>
      <p:sp>
        <p:nvSpPr>
          <p:cNvPr id="2" name="Text 14">
            <a:extLst>
              <a:ext uri="{FF2B5EF4-FFF2-40B4-BE49-F238E27FC236}">
                <a16:creationId xmlns:a16="http://schemas.microsoft.com/office/drawing/2014/main" id="{E9317858-DCE8-4C10-81A8-E2FE2FB13C9F}"/>
              </a:ext>
            </a:extLst>
          </p:cNvPr>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a:extLst>
              <a:ext uri="{FF2B5EF4-FFF2-40B4-BE49-F238E27FC236}">
                <a16:creationId xmlns:a16="http://schemas.microsoft.com/office/drawing/2014/main" id="{676B569C-BE98-1DFA-1777-4A96F833F3CC}"/>
              </a:ext>
            </a:extLst>
          </p:cNvPr>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a:extLst>
              <a:ext uri="{FF2B5EF4-FFF2-40B4-BE49-F238E27FC236}">
                <a16:creationId xmlns:a16="http://schemas.microsoft.com/office/drawing/2014/main" id="{252B3354-579B-CADE-CBFC-5BD61A30F6CB}"/>
              </a:ext>
            </a:extLst>
          </p:cNvPr>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a:extLst>
              <a:ext uri="{FF2B5EF4-FFF2-40B4-BE49-F238E27FC236}">
                <a16:creationId xmlns:a16="http://schemas.microsoft.com/office/drawing/2014/main" id="{73846D69-FB24-CEFD-446A-8E10165877F3}"/>
              </a:ext>
            </a:extLst>
          </p:cNvPr>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a:extLst>
              <a:ext uri="{FF2B5EF4-FFF2-40B4-BE49-F238E27FC236}">
                <a16:creationId xmlns:a16="http://schemas.microsoft.com/office/drawing/2014/main" id="{AC4BB14A-0B60-B005-A3DF-0E2B904C46F8}"/>
              </a:ext>
            </a:extLst>
          </p:cNvPr>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a:extLst>
              <a:ext uri="{FF2B5EF4-FFF2-40B4-BE49-F238E27FC236}">
                <a16:creationId xmlns:a16="http://schemas.microsoft.com/office/drawing/2014/main" id="{B12B59A0-6625-5273-9A8C-370D59C09850}"/>
              </a:ext>
            </a:extLst>
          </p:cNvPr>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a:extLst>
              <a:ext uri="{FF2B5EF4-FFF2-40B4-BE49-F238E27FC236}">
                <a16:creationId xmlns:a16="http://schemas.microsoft.com/office/drawing/2014/main" id="{DB87DA39-C92E-0683-475E-5D2D411F0CAA}"/>
              </a:ext>
            </a:extLst>
          </p:cNvPr>
          <p:cNvSpPr txBox="1"/>
          <p:nvPr/>
        </p:nvSpPr>
        <p:spPr>
          <a:xfrm>
            <a:off x="731520" y="1874519"/>
            <a:ext cx="7676500" cy="2533929"/>
          </a:xfrm>
          <a:prstGeom prst="rect">
            <a:avLst/>
          </a:prstGeom>
          <a:noFill/>
          <a:ln/>
        </p:spPr>
        <p:txBody>
          <a:bodyPr wrap="square" lIns="0" tIns="0" rIns="0" bIns="0" rtlCol="0" anchor="t"/>
          <a:lstStyle/>
          <a:p>
            <a:r>
              <a:rPr lang="en-IN" sz="1400" b="1" dirty="0"/>
              <a:t>How we implemented the project</a:t>
            </a:r>
          </a:p>
          <a:p>
            <a:endParaRPr lang="en-IN" sz="1400" b="1" dirty="0"/>
          </a:p>
          <a:p>
            <a:pPr marL="171450" lvl="0" indent="-171450">
              <a:buFont typeface="Arial" panose="020B0604020202020204" pitchFamily="34" charset="0"/>
              <a:buChar char="•"/>
            </a:pPr>
            <a:r>
              <a:rPr lang="en-IN" sz="1400" dirty="0"/>
              <a:t>We created sample energy data for four time slots.</a:t>
            </a:r>
          </a:p>
          <a:p>
            <a:pPr marL="171450" lvl="0" indent="-171450">
              <a:buFont typeface="Arial" panose="020B0604020202020204" pitchFamily="34" charset="0"/>
              <a:buChar char="•"/>
            </a:pPr>
            <a:r>
              <a:rPr lang="en-IN" sz="1400" dirty="0"/>
              <a:t>We used electricity prices, demand, and solar generation to estimate scheduling costs.</a:t>
            </a:r>
          </a:p>
          <a:p>
            <a:pPr marL="171450" lvl="0" indent="-171450">
              <a:buFont typeface="Arial" panose="020B0604020202020204" pitchFamily="34" charset="0"/>
              <a:buChar char="•"/>
            </a:pPr>
            <a:r>
              <a:rPr lang="en-IN" sz="1400" dirty="0"/>
              <a:t>We implemented an exact classical search by checking all 2^4 = 16 possible binary schedules.</a:t>
            </a:r>
          </a:p>
          <a:p>
            <a:pPr marL="171450" lvl="0" indent="-171450">
              <a:buFont typeface="Arial" panose="020B0604020202020204" pitchFamily="34" charset="0"/>
              <a:buChar char="•"/>
            </a:pPr>
            <a:r>
              <a:rPr lang="en-IN" sz="1400" dirty="0"/>
              <a:t>We added a QAOA simulation to sample possible solutions.</a:t>
            </a:r>
          </a:p>
          <a:p>
            <a:pPr marL="171450" lvl="0" indent="-171450">
              <a:buFont typeface="Arial" panose="020B0604020202020204" pitchFamily="34" charset="0"/>
              <a:buChar char="•"/>
            </a:pPr>
            <a:r>
              <a:rPr lang="en-IN" sz="1400" dirty="0"/>
              <a:t>We used </a:t>
            </a:r>
            <a:r>
              <a:rPr lang="en-IN" sz="1400" dirty="0" err="1"/>
              <a:t>Streamlit</a:t>
            </a:r>
            <a:r>
              <a:rPr lang="en-IN" sz="1400" dirty="0"/>
              <a:t> to display the data and compare the results.</a:t>
            </a:r>
          </a:p>
          <a:p>
            <a:pPr lvl="0"/>
            <a:endParaRPr lang="en-IN" sz="1400" dirty="0"/>
          </a:p>
          <a:p>
            <a:r>
              <a:rPr lang="en-IN" sz="1400" dirty="0"/>
              <a:t>Current project status: A software prototype using sample data. Live electricity data, machine-learning forecasting, real hardware control, and execution on a real quantum computer are not yet implemented.</a:t>
            </a:r>
          </a:p>
          <a:p>
            <a:pPr marL="0" indent="0">
              <a:buNone/>
            </a:pPr>
            <a:endParaRPr lang="en-US" sz="1200" dirty="0"/>
          </a:p>
        </p:txBody>
      </p:sp>
      <p:sp>
        <p:nvSpPr>
          <p:cNvPr id="25" name="Slide Number Placeholder 0">
            <a:extLst>
              <a:ext uri="{FF2B5EF4-FFF2-40B4-BE49-F238E27FC236}">
                <a16:creationId xmlns:a16="http://schemas.microsoft.com/office/drawing/2014/main" id="{FB1CEBC6-55D6-40DF-9D71-81BE02F890BC}"/>
              </a:ext>
            </a:extLst>
          </p:cNvPr>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Tree>
    <p:extLst>
      <p:ext uri="{BB962C8B-B14F-4D97-AF65-F5344CB8AC3E}">
        <p14:creationId xmlns:p14="http://schemas.microsoft.com/office/powerpoint/2010/main" val="1012273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results</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Histogram, plot or table</a:t>
            </a:r>
            <a:endParaRPr lang="en-US" sz="1400" dirty="0"/>
          </a:p>
        </p:txBody>
      </p:sp>
      <p:sp>
        <p:nvSpPr>
          <p:cNvPr id="8" name="Content card"/>
          <p:cNvSpPr/>
          <p:nvPr/>
        </p:nvSpPr>
        <p:spPr>
          <a:xfrm>
            <a:off x="5211950" y="1662851"/>
            <a:ext cx="3816077" cy="3057831"/>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445512" y="1718812"/>
            <a:ext cx="822960" cy="54864"/>
          </a:xfrm>
          <a:prstGeom prst="rect">
            <a:avLst/>
          </a:prstGeom>
          <a:solidFill>
            <a:srgbClr val="5B3BA8"/>
          </a:solidFill>
          <a:ln w="12700">
            <a:solidFill>
              <a:srgbClr val="5B3BA8"/>
            </a:solidFill>
            <a:prstDash val="solid"/>
          </a:ln>
        </p:spPr>
        <p:txBody>
          <a:bodyPr/>
          <a:lstStyle/>
          <a:p>
            <a:endParaRPr lang="en-IN"/>
          </a:p>
        </p:txBody>
      </p:sp>
      <p:sp>
        <p:nvSpPr>
          <p:cNvPr id="10" name="Text 8"/>
          <p:cNvSpPr txBox="1"/>
          <p:nvPr/>
        </p:nvSpPr>
        <p:spPr>
          <a:xfrm>
            <a:off x="5274155" y="1917602"/>
            <a:ext cx="3753872" cy="2560319"/>
          </a:xfrm>
          <a:prstGeom prst="rect">
            <a:avLst/>
          </a:prstGeom>
          <a:noFill/>
          <a:ln/>
        </p:spPr>
        <p:txBody>
          <a:bodyPr wrap="square" lIns="0" tIns="0" rIns="0" bIns="0" rtlCol="0" anchor="t"/>
          <a:lstStyle/>
          <a:p>
            <a:r>
              <a:rPr lang="en-IN" sz="1200" dirty="0"/>
              <a:t>This graph shows how solar generation, electricity demand (load), and grid power change throughout the day.</a:t>
            </a:r>
          </a:p>
          <a:p>
            <a:endParaRPr lang="en-IN" sz="1200" dirty="0"/>
          </a:p>
          <a:p>
            <a:pPr lvl="0"/>
            <a:r>
              <a:rPr lang="en-IN" sz="1200" b="1" dirty="0"/>
              <a:t>Solar (orange): </a:t>
            </a:r>
            <a:r>
              <a:rPr lang="en-IN" sz="1200" dirty="0"/>
              <a:t>Generation increases in the morning, peaks around 11 AM–12 PM, and falls to zero in the evening.</a:t>
            </a:r>
          </a:p>
          <a:p>
            <a:pPr lvl="0"/>
            <a:endParaRPr lang="en-IN" sz="1200" dirty="0"/>
          </a:p>
          <a:p>
            <a:pPr lvl="0"/>
            <a:r>
              <a:rPr lang="en-IN" sz="1200" b="1" dirty="0"/>
              <a:t>Load (grey): </a:t>
            </a:r>
            <a:r>
              <a:rPr lang="en-IN" sz="1200" dirty="0"/>
              <a:t>Electricity demand changes throughout the day, with high demand in the morning and evening.</a:t>
            </a:r>
          </a:p>
          <a:p>
            <a:pPr lvl="0"/>
            <a:endParaRPr lang="en-IN" sz="1200" dirty="0"/>
          </a:p>
          <a:p>
            <a:pPr lvl="0"/>
            <a:r>
              <a:rPr lang="en-IN" sz="1200" b="1" dirty="0"/>
              <a:t>Grid (green): </a:t>
            </a:r>
            <a:r>
              <a:rPr lang="en-IN" sz="1200" dirty="0"/>
              <a:t>Grid power helps meet demand when solar energy is insufficient.</a:t>
            </a:r>
          </a:p>
          <a:p>
            <a:pPr lvl="0"/>
            <a:endParaRPr lang="en-IN" sz="1200" dirty="0"/>
          </a:p>
          <a:p>
            <a:r>
              <a:rPr lang="en-IN" sz="1200" b="1" dirty="0"/>
              <a:t>Purpose: </a:t>
            </a:r>
            <a:r>
              <a:rPr lang="en-IN" sz="1200" dirty="0"/>
              <a:t>To understand when solar energy is available and when the system may need grid electricity or battery support.</a:t>
            </a:r>
          </a:p>
          <a:p>
            <a:endParaRPr lang="en-US" sz="1200" dirty="0"/>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pic>
        <p:nvPicPr>
          <p:cNvPr id="12" name="Picture 11">
            <a:extLst>
              <a:ext uri="{FF2B5EF4-FFF2-40B4-BE49-F238E27FC236}">
                <a16:creationId xmlns:a16="http://schemas.microsoft.com/office/drawing/2014/main" id="{C2AD5595-D9A4-2FB3-87B7-79870226F3F4}"/>
              </a:ext>
            </a:extLst>
          </p:cNvPr>
          <p:cNvPicPr>
            <a:picLocks noChangeAspect="1"/>
          </p:cNvPicPr>
          <p:nvPr/>
        </p:nvPicPr>
        <p:blipFill>
          <a:blip r:embed="rId3"/>
          <a:stretch>
            <a:fillRect/>
          </a:stretch>
        </p:blipFill>
        <p:spPr>
          <a:xfrm>
            <a:off x="115973" y="1718812"/>
            <a:ext cx="4917929" cy="28701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20C10-9C53-E963-5132-DC1D46920B46}"/>
            </a:ext>
          </a:extLst>
        </p:cNvPr>
        <p:cNvGrpSpPr/>
        <p:nvPr/>
      </p:nvGrpSpPr>
      <p:grpSpPr>
        <a:xfrm>
          <a:off x="0" y="0"/>
          <a:ext cx="0" cy="0"/>
          <a:chOff x="0" y="0"/>
          <a:chExt cx="0" cy="0"/>
        </a:xfrm>
      </p:grpSpPr>
      <p:sp>
        <p:nvSpPr>
          <p:cNvPr id="2" name="Text 14">
            <a:extLst>
              <a:ext uri="{FF2B5EF4-FFF2-40B4-BE49-F238E27FC236}">
                <a16:creationId xmlns:a16="http://schemas.microsoft.com/office/drawing/2014/main" id="{20191F73-6B8D-C1D1-7DA3-70D697B9AF2F}"/>
              </a:ext>
            </a:extLst>
          </p:cNvPr>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a:extLst>
              <a:ext uri="{FF2B5EF4-FFF2-40B4-BE49-F238E27FC236}">
                <a16:creationId xmlns:a16="http://schemas.microsoft.com/office/drawing/2014/main" id="{8B5B828F-454C-0A14-265F-E3F0CF414370}"/>
              </a:ext>
            </a:extLst>
          </p:cNvPr>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a:extLst>
              <a:ext uri="{FF2B5EF4-FFF2-40B4-BE49-F238E27FC236}">
                <a16:creationId xmlns:a16="http://schemas.microsoft.com/office/drawing/2014/main" id="{5166A0D9-FDC2-24A4-2F61-831309A45DC2}"/>
              </a:ext>
            </a:extLst>
          </p:cNvPr>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a:extLst>
              <a:ext uri="{FF2B5EF4-FFF2-40B4-BE49-F238E27FC236}">
                <a16:creationId xmlns:a16="http://schemas.microsoft.com/office/drawing/2014/main" id="{485D3B2C-07E4-BA47-5BDA-B17F47DAC386}"/>
              </a:ext>
            </a:extLst>
          </p:cNvPr>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7" name="Text 5">
            <a:extLst>
              <a:ext uri="{FF2B5EF4-FFF2-40B4-BE49-F238E27FC236}">
                <a16:creationId xmlns:a16="http://schemas.microsoft.com/office/drawing/2014/main" id="{490AA998-AAAD-F6BB-B857-2364FBC48BD7}"/>
              </a:ext>
            </a:extLst>
          </p:cNvPr>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results</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Histogram, plot or table</a:t>
            </a:r>
            <a:endParaRPr lang="en-US" sz="1400" dirty="0"/>
          </a:p>
        </p:txBody>
      </p:sp>
      <p:sp>
        <p:nvSpPr>
          <p:cNvPr id="8" name="Content card">
            <a:extLst>
              <a:ext uri="{FF2B5EF4-FFF2-40B4-BE49-F238E27FC236}">
                <a16:creationId xmlns:a16="http://schemas.microsoft.com/office/drawing/2014/main" id="{39F6B3AC-8F04-DB6B-5288-E26214B892A9}"/>
              </a:ext>
            </a:extLst>
          </p:cNvPr>
          <p:cNvSpPr/>
          <p:nvPr/>
        </p:nvSpPr>
        <p:spPr>
          <a:xfrm>
            <a:off x="5092761" y="1691640"/>
            <a:ext cx="3914079"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a:extLst>
              <a:ext uri="{FF2B5EF4-FFF2-40B4-BE49-F238E27FC236}">
                <a16:creationId xmlns:a16="http://schemas.microsoft.com/office/drawing/2014/main" id="{2A938250-C099-14A3-1213-2662BAA56EE0}"/>
              </a:ext>
            </a:extLst>
          </p:cNvPr>
          <p:cNvSpPr/>
          <p:nvPr/>
        </p:nvSpPr>
        <p:spPr>
          <a:xfrm>
            <a:off x="5323220" y="1691640"/>
            <a:ext cx="822960" cy="54864"/>
          </a:xfrm>
          <a:prstGeom prst="rect">
            <a:avLst/>
          </a:prstGeom>
          <a:solidFill>
            <a:srgbClr val="5B3BA8"/>
          </a:solidFill>
          <a:ln w="12700">
            <a:solidFill>
              <a:srgbClr val="5B3BA8"/>
            </a:solidFill>
            <a:prstDash val="solid"/>
          </a:ln>
        </p:spPr>
        <p:txBody>
          <a:bodyPr/>
          <a:lstStyle/>
          <a:p>
            <a:endParaRPr lang="en-IN"/>
          </a:p>
        </p:txBody>
      </p:sp>
      <p:sp>
        <p:nvSpPr>
          <p:cNvPr id="10" name="Text 8">
            <a:extLst>
              <a:ext uri="{FF2B5EF4-FFF2-40B4-BE49-F238E27FC236}">
                <a16:creationId xmlns:a16="http://schemas.microsoft.com/office/drawing/2014/main" id="{C0825E03-4034-2ED6-4F03-44A856628B88}"/>
              </a:ext>
            </a:extLst>
          </p:cNvPr>
          <p:cNvSpPr txBox="1"/>
          <p:nvPr/>
        </p:nvSpPr>
        <p:spPr>
          <a:xfrm>
            <a:off x="5207061" y="1874520"/>
            <a:ext cx="3661876" cy="2560320"/>
          </a:xfrm>
          <a:prstGeom prst="rect">
            <a:avLst/>
          </a:prstGeom>
          <a:noFill/>
          <a:ln/>
        </p:spPr>
        <p:txBody>
          <a:bodyPr wrap="square" lIns="0" tIns="0" rIns="0" bIns="0" rtlCol="0" anchor="t"/>
          <a:lstStyle/>
          <a:p>
            <a:r>
              <a:rPr lang="en-IN" sz="1200" dirty="0"/>
              <a:t>This graph shows how the battery's stored energy changes over 24 hours.</a:t>
            </a:r>
          </a:p>
          <a:p>
            <a:endParaRPr lang="en-IN" sz="1200" dirty="0"/>
          </a:p>
          <a:p>
            <a:pPr lvl="0"/>
            <a:r>
              <a:rPr lang="en-IN" sz="1200" dirty="0"/>
              <a:t>The battery starts at approximately 30% charge.</a:t>
            </a:r>
          </a:p>
          <a:p>
            <a:pPr lvl="0"/>
            <a:r>
              <a:rPr lang="en-IN" sz="1200" dirty="0"/>
              <a:t>It charges during sunny hours, reaching around 80% in the afternoon.</a:t>
            </a:r>
          </a:p>
          <a:p>
            <a:pPr lvl="0"/>
            <a:endParaRPr lang="en-IN" sz="1200" dirty="0"/>
          </a:p>
          <a:p>
            <a:pPr lvl="0"/>
            <a:r>
              <a:rPr lang="en-IN" sz="1200" dirty="0"/>
              <a:t>It discharges during the evening to support energy demand, ending at approximately 20%.</a:t>
            </a:r>
          </a:p>
          <a:p>
            <a:r>
              <a:rPr lang="en-IN" sz="1200" dirty="0"/>
              <a:t>Purpose: To show how stored solar energy can be saved during the day and used when solar generation decreases.</a:t>
            </a:r>
          </a:p>
          <a:p>
            <a:pPr marL="0" indent="0">
              <a:buNone/>
            </a:pPr>
            <a:endParaRPr lang="en-US" sz="1200" dirty="0"/>
          </a:p>
        </p:txBody>
      </p:sp>
      <p:sp>
        <p:nvSpPr>
          <p:cNvPr id="25" name="Slide Number Placeholder 0">
            <a:extLst>
              <a:ext uri="{FF2B5EF4-FFF2-40B4-BE49-F238E27FC236}">
                <a16:creationId xmlns:a16="http://schemas.microsoft.com/office/drawing/2014/main" id="{92544259-39BB-0683-55D2-704ECF96BBBA}"/>
              </a:ext>
            </a:extLst>
          </p:cNvPr>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10</a:t>
            </a:fld>
            <a:endParaRPr lang="en-US"/>
          </a:p>
        </p:txBody>
      </p:sp>
      <p:pic>
        <p:nvPicPr>
          <p:cNvPr id="12" name="Picture 11">
            <a:extLst>
              <a:ext uri="{FF2B5EF4-FFF2-40B4-BE49-F238E27FC236}">
                <a16:creationId xmlns:a16="http://schemas.microsoft.com/office/drawing/2014/main" id="{D9A23A4D-5E40-E189-048C-8F27A7F2E0BD}"/>
              </a:ext>
            </a:extLst>
          </p:cNvPr>
          <p:cNvPicPr>
            <a:picLocks noChangeAspect="1"/>
          </p:cNvPicPr>
          <p:nvPr/>
        </p:nvPicPr>
        <p:blipFill>
          <a:blip r:embed="rId3"/>
          <a:stretch>
            <a:fillRect/>
          </a:stretch>
        </p:blipFill>
        <p:spPr>
          <a:xfrm>
            <a:off x="457200" y="1756436"/>
            <a:ext cx="4452681" cy="2678404"/>
          </a:xfrm>
          <a:prstGeom prst="rect">
            <a:avLst/>
          </a:prstGeom>
        </p:spPr>
      </p:pic>
    </p:spTree>
    <p:extLst>
      <p:ext uri="{BB962C8B-B14F-4D97-AF65-F5344CB8AC3E}">
        <p14:creationId xmlns:p14="http://schemas.microsoft.com/office/powerpoint/2010/main" val="2737792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03782-85F8-7B6D-7DFE-815B1EC749B2}"/>
            </a:ext>
          </a:extLst>
        </p:cNvPr>
        <p:cNvGrpSpPr/>
        <p:nvPr/>
      </p:nvGrpSpPr>
      <p:grpSpPr>
        <a:xfrm>
          <a:off x="0" y="0"/>
          <a:ext cx="0" cy="0"/>
          <a:chOff x="0" y="0"/>
          <a:chExt cx="0" cy="0"/>
        </a:xfrm>
      </p:grpSpPr>
      <p:sp>
        <p:nvSpPr>
          <p:cNvPr id="2" name="Text 14">
            <a:extLst>
              <a:ext uri="{FF2B5EF4-FFF2-40B4-BE49-F238E27FC236}">
                <a16:creationId xmlns:a16="http://schemas.microsoft.com/office/drawing/2014/main" id="{66F0E4AE-BE55-A1CF-AE7A-69A696FAA925}"/>
              </a:ext>
            </a:extLst>
          </p:cNvPr>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a:extLst>
              <a:ext uri="{FF2B5EF4-FFF2-40B4-BE49-F238E27FC236}">
                <a16:creationId xmlns:a16="http://schemas.microsoft.com/office/drawing/2014/main" id="{2F3352DB-EEC4-C3A2-2CD0-296F8B146D64}"/>
              </a:ext>
            </a:extLst>
          </p:cNvPr>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a:extLst>
              <a:ext uri="{FF2B5EF4-FFF2-40B4-BE49-F238E27FC236}">
                <a16:creationId xmlns:a16="http://schemas.microsoft.com/office/drawing/2014/main" id="{14930163-D38F-CADB-EFBB-9CEA01D8824D}"/>
              </a:ext>
            </a:extLst>
          </p:cNvPr>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a:extLst>
              <a:ext uri="{FF2B5EF4-FFF2-40B4-BE49-F238E27FC236}">
                <a16:creationId xmlns:a16="http://schemas.microsoft.com/office/drawing/2014/main" id="{213430B3-27DB-D992-007D-8784E2E07F62}"/>
              </a:ext>
            </a:extLst>
          </p:cNvPr>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7" name="Text 5">
            <a:extLst>
              <a:ext uri="{FF2B5EF4-FFF2-40B4-BE49-F238E27FC236}">
                <a16:creationId xmlns:a16="http://schemas.microsoft.com/office/drawing/2014/main" id="{A59EAC60-A3AF-7B9B-3BE7-0693917DB14C}"/>
              </a:ext>
            </a:extLst>
          </p:cNvPr>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results</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Histogram, plot or table</a:t>
            </a:r>
            <a:endParaRPr lang="en-US" sz="1400" dirty="0"/>
          </a:p>
        </p:txBody>
      </p:sp>
      <p:sp>
        <p:nvSpPr>
          <p:cNvPr id="8" name="Content card">
            <a:extLst>
              <a:ext uri="{FF2B5EF4-FFF2-40B4-BE49-F238E27FC236}">
                <a16:creationId xmlns:a16="http://schemas.microsoft.com/office/drawing/2014/main" id="{9410ADDA-0050-B8BE-FC25-A8E9D6DDF0A4}"/>
              </a:ext>
            </a:extLst>
          </p:cNvPr>
          <p:cNvSpPr/>
          <p:nvPr/>
        </p:nvSpPr>
        <p:spPr>
          <a:xfrm>
            <a:off x="5449229" y="1642573"/>
            <a:ext cx="3590693" cy="3160591"/>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a:extLst>
              <a:ext uri="{FF2B5EF4-FFF2-40B4-BE49-F238E27FC236}">
                <a16:creationId xmlns:a16="http://schemas.microsoft.com/office/drawing/2014/main" id="{4C95D855-4BFA-8077-FAF8-DCE6637B6A9F}"/>
              </a:ext>
            </a:extLst>
          </p:cNvPr>
          <p:cNvSpPr/>
          <p:nvPr/>
        </p:nvSpPr>
        <p:spPr>
          <a:xfrm>
            <a:off x="5621331" y="1642574"/>
            <a:ext cx="822960" cy="54864"/>
          </a:xfrm>
          <a:prstGeom prst="rect">
            <a:avLst/>
          </a:prstGeom>
          <a:solidFill>
            <a:srgbClr val="5B3BA8"/>
          </a:solidFill>
          <a:ln w="12700">
            <a:solidFill>
              <a:srgbClr val="5B3BA8"/>
            </a:solidFill>
            <a:prstDash val="solid"/>
          </a:ln>
        </p:spPr>
        <p:txBody>
          <a:bodyPr/>
          <a:lstStyle/>
          <a:p>
            <a:endParaRPr lang="en-IN"/>
          </a:p>
        </p:txBody>
      </p:sp>
      <p:sp>
        <p:nvSpPr>
          <p:cNvPr id="10" name="Text 8">
            <a:extLst>
              <a:ext uri="{FF2B5EF4-FFF2-40B4-BE49-F238E27FC236}">
                <a16:creationId xmlns:a16="http://schemas.microsoft.com/office/drawing/2014/main" id="{7E434EAE-4472-F662-20BC-1BB366FF6CEF}"/>
              </a:ext>
            </a:extLst>
          </p:cNvPr>
          <p:cNvSpPr txBox="1"/>
          <p:nvPr/>
        </p:nvSpPr>
        <p:spPr>
          <a:xfrm>
            <a:off x="5621331" y="1724164"/>
            <a:ext cx="3234595" cy="3040938"/>
          </a:xfrm>
          <a:prstGeom prst="rect">
            <a:avLst/>
          </a:prstGeom>
          <a:noFill/>
          <a:ln/>
        </p:spPr>
        <p:txBody>
          <a:bodyPr wrap="square" lIns="0" tIns="0" rIns="0" bIns="0" rtlCol="0" anchor="t"/>
          <a:lstStyle/>
          <a:p>
            <a:r>
              <a:rPr lang="en-IN" sz="1050" dirty="0"/>
              <a:t>This graph compares the cost produced by a classical optimization method with the cost produced by a quantum-inspired or quantum optimization approach called QAOA (Quantum Approximate Optimization Algorithm).</a:t>
            </a:r>
          </a:p>
          <a:p>
            <a:endParaRPr lang="en-IN" sz="1050" dirty="0"/>
          </a:p>
          <a:p>
            <a:pPr lvl="0"/>
            <a:r>
              <a:rPr lang="en-IN" sz="1050" dirty="0"/>
              <a:t>Classical Optimum: The displayed cost is approximately ₹6.</a:t>
            </a:r>
          </a:p>
          <a:p>
            <a:pPr lvl="0"/>
            <a:r>
              <a:rPr lang="en-IN" sz="1050" dirty="0"/>
              <a:t>QAOA Best Feasible: The displayed cost is also approximately ₹6.</a:t>
            </a:r>
          </a:p>
          <a:p>
            <a:pPr lvl="0"/>
            <a:r>
              <a:rPr lang="en-IN" sz="1050" dirty="0"/>
              <a:t>Both methods appear to produce nearly identical costs in this simulation.</a:t>
            </a:r>
          </a:p>
          <a:p>
            <a:pPr lvl="0"/>
            <a:endParaRPr lang="en-IN" sz="1050" dirty="0"/>
          </a:p>
          <a:p>
            <a:r>
              <a:rPr lang="en-IN" sz="1050" dirty="0"/>
              <a:t>Purpose: To compare the solutions from classical and QAOA methods.</a:t>
            </a:r>
          </a:p>
          <a:p>
            <a:r>
              <a:rPr lang="en-IN" sz="1050" dirty="0"/>
              <a:t>Important observation: This graph does not currently demonstrate a cost reduction or quantum advantage. To establish an advantage, you would need repeated tests, a fair comparison, and evidence that QAOA improves solution quality, runtime, or another relevant metric.</a:t>
            </a:r>
          </a:p>
          <a:p>
            <a:pPr marL="0" indent="0">
              <a:buNone/>
            </a:pPr>
            <a:endParaRPr lang="en-US" sz="1050" dirty="0"/>
          </a:p>
        </p:txBody>
      </p:sp>
      <p:sp>
        <p:nvSpPr>
          <p:cNvPr id="25" name="Slide Number Placeholder 0">
            <a:extLst>
              <a:ext uri="{FF2B5EF4-FFF2-40B4-BE49-F238E27FC236}">
                <a16:creationId xmlns:a16="http://schemas.microsoft.com/office/drawing/2014/main" id="{136C869C-FAE2-3400-0B97-0C5F75AEC197}"/>
              </a:ext>
            </a:extLst>
          </p:cNvPr>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11</a:t>
            </a:fld>
            <a:endParaRPr lang="en-US"/>
          </a:p>
        </p:txBody>
      </p:sp>
      <p:pic>
        <p:nvPicPr>
          <p:cNvPr id="12" name="Picture 11">
            <a:extLst>
              <a:ext uri="{FF2B5EF4-FFF2-40B4-BE49-F238E27FC236}">
                <a16:creationId xmlns:a16="http://schemas.microsoft.com/office/drawing/2014/main" id="{351997D3-DA91-7818-9299-880DA6BBD2F0}"/>
              </a:ext>
            </a:extLst>
          </p:cNvPr>
          <p:cNvPicPr>
            <a:picLocks noChangeAspect="1"/>
          </p:cNvPicPr>
          <p:nvPr/>
        </p:nvPicPr>
        <p:blipFill>
          <a:blip r:embed="rId3"/>
          <a:stretch>
            <a:fillRect/>
          </a:stretch>
        </p:blipFill>
        <p:spPr>
          <a:xfrm>
            <a:off x="350042" y="1642574"/>
            <a:ext cx="4862038" cy="2926080"/>
          </a:xfrm>
          <a:prstGeom prst="rect">
            <a:avLst/>
          </a:prstGeom>
        </p:spPr>
      </p:pic>
    </p:spTree>
    <p:extLst>
      <p:ext uri="{BB962C8B-B14F-4D97-AF65-F5344CB8AC3E}">
        <p14:creationId xmlns:p14="http://schemas.microsoft.com/office/powerpoint/2010/main" val="1894093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8" name="Text 6"/>
          <p:cNvSpPr txBox="1"/>
          <p:nvPr/>
        </p:nvSpPr>
        <p:spPr>
          <a:xfrm>
            <a:off x="585216" y="1815085"/>
            <a:ext cx="8001000" cy="2926079"/>
          </a:xfrm>
          <a:prstGeom prst="rect">
            <a:avLst/>
          </a:prstGeom>
          <a:noFill/>
          <a:ln/>
        </p:spPr>
        <p:txBody>
          <a:bodyPr wrap="square" lIns="0" tIns="0" rIns="0" bIns="0" rtlCol="0" anchor="t"/>
          <a:lstStyle/>
          <a:p>
            <a:r>
              <a:rPr lang="en-IN" sz="1200" dirty="0"/>
              <a:t>Our project could support better energy decisions in the future, especially when combined with real data and practical scheduling constraints.</a:t>
            </a:r>
          </a:p>
          <a:p>
            <a:endParaRPr lang="en-IN" sz="1200" dirty="0"/>
          </a:p>
          <a:p>
            <a:r>
              <a:rPr lang="en-IN" sz="1200" b="1" dirty="0"/>
              <a:t>1. Solar installation companies</a:t>
            </a:r>
          </a:p>
          <a:p>
            <a:r>
              <a:rPr lang="en-IN" sz="1200" dirty="0"/>
              <a:t>Help customers understand when electricity use may be cheaper and how solar generation relates to their demand.</a:t>
            </a:r>
          </a:p>
          <a:p>
            <a:endParaRPr lang="en-IN" sz="1200" dirty="0"/>
          </a:p>
          <a:p>
            <a:r>
              <a:rPr lang="en-IN" sz="1200" b="1" dirty="0"/>
              <a:t>2. Commercial buildings</a:t>
            </a:r>
          </a:p>
          <a:p>
            <a:r>
              <a:rPr lang="en-IN" sz="1200" dirty="0"/>
              <a:t>Explore better schedules for flexible equipment, such as pumps or selected industrial loads, where operating constraints allow.</a:t>
            </a:r>
          </a:p>
          <a:p>
            <a:endParaRPr lang="en-IN" sz="1200" dirty="0"/>
          </a:p>
          <a:p>
            <a:r>
              <a:rPr lang="en-IN" sz="1200" b="1" dirty="0"/>
              <a:t>3. Solar and battery systems</a:t>
            </a:r>
          </a:p>
          <a:p>
            <a:r>
              <a:rPr lang="en-IN" sz="1200" dirty="0"/>
              <a:t>A future version could consider battery charging and discharging schedules to help reduce grid electricity costs.</a:t>
            </a:r>
          </a:p>
          <a:p>
            <a:endParaRPr lang="en-IN" sz="1200" dirty="0"/>
          </a:p>
          <a:p>
            <a:r>
              <a:rPr lang="en-IN" sz="1200" b="1" dirty="0"/>
              <a:t>4. Electric vehicle charging</a:t>
            </a:r>
          </a:p>
          <a:p>
            <a:r>
              <a:rPr lang="en-IN" sz="1200" dirty="0"/>
              <a:t>A future version could recommend charging times based on electricity prices, solar availability, and when the vehicle is needed.</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A7CD-ED8F-65E9-C18B-C4B023266ECD}"/>
            </a:ext>
          </a:extLst>
        </p:cNvPr>
        <p:cNvGrpSpPr/>
        <p:nvPr/>
      </p:nvGrpSpPr>
      <p:grpSpPr>
        <a:xfrm>
          <a:off x="0" y="0"/>
          <a:ext cx="0" cy="0"/>
          <a:chOff x="0" y="0"/>
          <a:chExt cx="0" cy="0"/>
        </a:xfrm>
      </p:grpSpPr>
      <p:sp>
        <p:nvSpPr>
          <p:cNvPr id="2" name="Text 14">
            <a:extLst>
              <a:ext uri="{FF2B5EF4-FFF2-40B4-BE49-F238E27FC236}">
                <a16:creationId xmlns:a16="http://schemas.microsoft.com/office/drawing/2014/main" id="{CFD07C0C-E73D-8C49-00F8-76F7C31A7624}"/>
              </a:ext>
            </a:extLst>
          </p:cNvPr>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a:extLst>
              <a:ext uri="{FF2B5EF4-FFF2-40B4-BE49-F238E27FC236}">
                <a16:creationId xmlns:a16="http://schemas.microsoft.com/office/drawing/2014/main" id="{340DD227-540A-5DDB-0B79-DB1D3AD8E820}"/>
              </a:ext>
            </a:extLst>
          </p:cNvPr>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a:extLst>
              <a:ext uri="{FF2B5EF4-FFF2-40B4-BE49-F238E27FC236}">
                <a16:creationId xmlns:a16="http://schemas.microsoft.com/office/drawing/2014/main" id="{C22A1E0A-EA20-546B-F1D8-B08E2ACBB8C1}"/>
              </a:ext>
            </a:extLst>
          </p:cNvPr>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a:extLst>
              <a:ext uri="{FF2B5EF4-FFF2-40B4-BE49-F238E27FC236}">
                <a16:creationId xmlns:a16="http://schemas.microsoft.com/office/drawing/2014/main" id="{DE63E961-CB55-6FA6-590E-E8A8AA1EEFD8}"/>
              </a:ext>
            </a:extLst>
          </p:cNvPr>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a:extLst>
              <a:ext uri="{FF2B5EF4-FFF2-40B4-BE49-F238E27FC236}">
                <a16:creationId xmlns:a16="http://schemas.microsoft.com/office/drawing/2014/main" id="{5195979B-5FEB-88FB-2A40-7A29EEFDB817}"/>
              </a:ext>
            </a:extLst>
          </p:cNvPr>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a:extLst>
              <a:ext uri="{FF2B5EF4-FFF2-40B4-BE49-F238E27FC236}">
                <a16:creationId xmlns:a16="http://schemas.microsoft.com/office/drawing/2014/main" id="{57461796-097E-626F-ACA3-FEA170CC447E}"/>
              </a:ext>
            </a:extLst>
          </p:cNvPr>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8" name="Text 6">
            <a:extLst>
              <a:ext uri="{FF2B5EF4-FFF2-40B4-BE49-F238E27FC236}">
                <a16:creationId xmlns:a16="http://schemas.microsoft.com/office/drawing/2014/main" id="{F53033F0-FD16-E975-BD53-77944C7A488C}"/>
              </a:ext>
            </a:extLst>
          </p:cNvPr>
          <p:cNvSpPr txBox="1"/>
          <p:nvPr/>
        </p:nvSpPr>
        <p:spPr>
          <a:xfrm>
            <a:off x="685800" y="1929384"/>
            <a:ext cx="8001000" cy="2926079"/>
          </a:xfrm>
          <a:prstGeom prst="rect">
            <a:avLst/>
          </a:prstGeom>
          <a:noFill/>
          <a:ln/>
        </p:spPr>
        <p:txBody>
          <a:bodyPr wrap="square" lIns="0" tIns="0" rIns="0" bIns="0" rtlCol="0" anchor="t"/>
          <a:lstStyle/>
          <a:p>
            <a:r>
              <a:rPr lang="en-IN" sz="1200" b="1" dirty="0"/>
              <a:t>How can it help society?</a:t>
            </a:r>
          </a:p>
          <a:p>
            <a:endParaRPr lang="en-IN" sz="1200" b="1" dirty="0"/>
          </a:p>
          <a:p>
            <a:pPr marL="171450" lvl="0" indent="-171450">
              <a:buFont typeface="Arial" panose="020B0604020202020204" pitchFamily="34" charset="0"/>
              <a:buChar char="•"/>
            </a:pPr>
            <a:r>
              <a:rPr lang="en-IN" sz="1200" dirty="0"/>
              <a:t>It could help users make better electricity-use decisions.</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It could support better use of available solar power.</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It could help reduce electricity costs when schedules are practical and tariffs make shifting worthwhile.</a:t>
            </a:r>
          </a:p>
          <a:p>
            <a:pPr marL="171450" lvl="0" indent="-171450">
              <a:buFont typeface="Arial" panose="020B0604020202020204" pitchFamily="34" charset="0"/>
              <a:buChar char="•"/>
            </a:pPr>
            <a:endParaRPr lang="en-IN" sz="1200" dirty="0"/>
          </a:p>
          <a:p>
            <a:pPr marL="171450" lvl="0" indent="-171450">
              <a:buFont typeface="Arial" panose="020B0604020202020204" pitchFamily="34" charset="0"/>
              <a:buChar char="•"/>
            </a:pPr>
            <a:r>
              <a:rPr lang="en-IN" sz="1200" dirty="0"/>
              <a:t>It could support the wider adoption of renewable energy.</a:t>
            </a:r>
          </a:p>
          <a:p>
            <a:pPr lvl="0"/>
            <a:endParaRPr lang="en-IN" sz="1200" dirty="0"/>
          </a:p>
          <a:p>
            <a:r>
              <a:rPr lang="en-IN" sz="1200" dirty="0"/>
              <a:t>These are potential benefits, not results already proven by the current prototype. Actual savings and environmental benefits would need to be measured using real energy data.</a:t>
            </a:r>
          </a:p>
        </p:txBody>
      </p:sp>
      <p:sp>
        <p:nvSpPr>
          <p:cNvPr id="25" name="Slide Number Placeholder 0">
            <a:extLst>
              <a:ext uri="{FF2B5EF4-FFF2-40B4-BE49-F238E27FC236}">
                <a16:creationId xmlns:a16="http://schemas.microsoft.com/office/drawing/2014/main" id="{B3560949-56DE-D615-1D29-D38EAF4374B1}"/>
              </a:ext>
            </a:extLst>
          </p:cNvPr>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13</a:t>
            </a:fld>
            <a:endParaRPr lang="en-US"/>
          </a:p>
        </p:txBody>
      </p:sp>
    </p:spTree>
    <p:extLst>
      <p:ext uri="{BB962C8B-B14F-4D97-AF65-F5344CB8AC3E}">
        <p14:creationId xmlns:p14="http://schemas.microsoft.com/office/powerpoint/2010/main" val="3208326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3066214"/>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14</a:t>
            </a:fld>
            <a:endParaRPr lang="en-US"/>
          </a:p>
        </p:txBody>
      </p:sp>
      <p:sp>
        <p:nvSpPr>
          <p:cNvPr id="9" name="TextBox 8">
            <a:extLst>
              <a:ext uri="{FF2B5EF4-FFF2-40B4-BE49-F238E27FC236}">
                <a16:creationId xmlns:a16="http://schemas.microsoft.com/office/drawing/2014/main" id="{BDE34DFE-D037-8937-C335-8776AC51C1DC}"/>
              </a:ext>
            </a:extLst>
          </p:cNvPr>
          <p:cNvSpPr txBox="1"/>
          <p:nvPr/>
        </p:nvSpPr>
        <p:spPr>
          <a:xfrm>
            <a:off x="585216" y="1746504"/>
            <a:ext cx="7332150" cy="3231654"/>
          </a:xfrm>
          <a:prstGeom prst="rect">
            <a:avLst/>
          </a:prstGeom>
          <a:noFill/>
        </p:spPr>
        <p:txBody>
          <a:bodyPr wrap="square" rtlCol="0">
            <a:spAutoFit/>
          </a:bodyPr>
          <a:lstStyle/>
          <a:p>
            <a:r>
              <a:rPr lang="en-IN" sz="1200" b="1" dirty="0"/>
              <a:t>Current challenges</a:t>
            </a:r>
          </a:p>
          <a:p>
            <a:endParaRPr lang="en-IN" sz="1200" b="1" dirty="0"/>
          </a:p>
          <a:p>
            <a:pPr marL="228600" lvl="0" indent="-228600">
              <a:buFont typeface="+mj-lt"/>
              <a:buAutoNum type="arabicPeriod"/>
            </a:pPr>
            <a:r>
              <a:rPr lang="en-IN" sz="1200" b="1" dirty="0"/>
              <a:t>Sample data: </a:t>
            </a:r>
            <a:r>
              <a:rPr lang="en-IN" sz="1200" dirty="0"/>
              <a:t>The current prototype does not use live electricity or weather data.</a:t>
            </a:r>
          </a:p>
          <a:p>
            <a:pPr marL="228600" lvl="0" indent="-228600">
              <a:buFont typeface="+mj-lt"/>
              <a:buAutoNum type="arabicPeriod"/>
            </a:pPr>
            <a:endParaRPr lang="en-IN" sz="1200" dirty="0"/>
          </a:p>
          <a:p>
            <a:pPr marL="228600" lvl="0" indent="-228600">
              <a:buFont typeface="+mj-lt"/>
              <a:buAutoNum type="arabicPeriod"/>
            </a:pPr>
            <a:r>
              <a:rPr lang="en-IN" sz="1200" b="1" dirty="0"/>
              <a:t>Small problem size: </a:t>
            </a:r>
            <a:r>
              <a:rPr lang="en-IN" sz="1200" dirty="0"/>
              <a:t>Four time slots are enough for a demonstration but not a realistic large energy system.</a:t>
            </a:r>
          </a:p>
          <a:p>
            <a:pPr marL="228600" lvl="0" indent="-228600">
              <a:buFont typeface="+mj-lt"/>
              <a:buAutoNum type="arabicPeriod"/>
            </a:pPr>
            <a:endParaRPr lang="en-IN" sz="1200" dirty="0"/>
          </a:p>
          <a:p>
            <a:pPr marL="228600" lvl="0" indent="-228600">
              <a:buFont typeface="+mj-lt"/>
              <a:buAutoNum type="arabicPeriod"/>
            </a:pPr>
            <a:r>
              <a:rPr lang="en-IN" sz="1200" b="1" dirty="0"/>
              <a:t>QAOA limitations: </a:t>
            </a:r>
            <a:r>
              <a:rPr lang="en-IN" sz="1200" dirty="0"/>
              <a:t>The result depends on parameter selection, circuit depth, and sampling. It may not find the best solution.</a:t>
            </a:r>
          </a:p>
          <a:p>
            <a:pPr marL="228600" lvl="0" indent="-228600">
              <a:buFont typeface="+mj-lt"/>
              <a:buAutoNum type="arabicPeriod"/>
            </a:pPr>
            <a:endParaRPr lang="en-IN" sz="1200" b="1" dirty="0"/>
          </a:p>
          <a:p>
            <a:pPr marL="228600" lvl="0" indent="-228600">
              <a:buFont typeface="+mj-lt"/>
              <a:buAutoNum type="arabicPeriod"/>
            </a:pPr>
            <a:r>
              <a:rPr lang="en-IN" sz="1200" b="1" dirty="0"/>
              <a:t>Classical comparison: </a:t>
            </a:r>
            <a:r>
              <a:rPr lang="en-IN" sz="1200" dirty="0"/>
              <a:t>Classical methods can be very effective for small problems, so quantum methods must be tested fairly.</a:t>
            </a:r>
          </a:p>
          <a:p>
            <a:pPr marL="228600" lvl="0" indent="-228600">
              <a:buFont typeface="+mj-lt"/>
              <a:buAutoNum type="arabicPeriod"/>
            </a:pPr>
            <a:endParaRPr lang="en-IN" sz="1200" dirty="0"/>
          </a:p>
          <a:p>
            <a:pPr marL="228600" lvl="0" indent="-228600">
              <a:buFont typeface="+mj-lt"/>
              <a:buAutoNum type="arabicPeriod"/>
            </a:pPr>
            <a:r>
              <a:rPr lang="en-IN" sz="1200" b="1" dirty="0"/>
              <a:t>No real device control: </a:t>
            </a:r>
            <a:r>
              <a:rPr lang="en-IN" sz="1200" dirty="0"/>
              <a:t>The prototype recommends a schedule but does not control solar equipment, batteries, or electrical loads.</a:t>
            </a:r>
          </a:p>
          <a:p>
            <a:pPr marL="228600" lvl="0" indent="-228600">
              <a:buFont typeface="+mj-lt"/>
              <a:buAutoNum type="arabicPeriod"/>
            </a:pPr>
            <a:endParaRPr lang="en-IN" sz="1200" dirty="0"/>
          </a:p>
          <a:p>
            <a:pPr marL="228600" lvl="0" indent="-228600">
              <a:buFont typeface="+mj-lt"/>
              <a:buAutoNum type="arabicPeriod"/>
            </a:pPr>
            <a:r>
              <a:rPr lang="en-IN" sz="1200" b="1" dirty="0"/>
              <a:t>Limited forecasting: </a:t>
            </a:r>
            <a:r>
              <a:rPr lang="en-IN" sz="1200" dirty="0"/>
              <a:t>It does not yet use a trained AI model to predict future demand or solar generation.</a:t>
            </a:r>
          </a:p>
          <a:p>
            <a:endParaRPr lang="en-IN"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a:p>
            <a:pPr fontAlgn="t"/>
            <a:r>
              <a:rPr lang="en-IN" sz="1100" b="1" dirty="0">
                <a:solidFill>
                  <a:schemeClr val="bg1">
                    <a:lumMod val="50000"/>
                  </a:schemeClr>
                </a:solidFill>
                <a:hlinkClick r:id="rId3">
                  <a:extLst>
                    <a:ext uri="{A12FA001-AC4F-418D-AE19-62706E023703}">
                      <ahyp:hlinkClr xmlns:ahyp="http://schemas.microsoft.com/office/drawing/2018/hyperlinkcolor" val="tx"/>
                    </a:ext>
                  </a:extLst>
                </a:hlinkClick>
              </a:rPr>
              <a:t>vtu-hc-infinity-blaze</a:t>
            </a:r>
            <a:endParaRPr lang="en-IN" sz="1100" dirty="0">
              <a:solidFill>
                <a:schemeClr val="bg1">
                  <a:lumMod val="50000"/>
                </a:schemeClr>
              </a:solidFill>
            </a:endParaRPr>
          </a:p>
          <a:p>
            <a:br>
              <a:rPr lang="en-IN" sz="900" dirty="0"/>
            </a:br>
            <a:endParaRPr lang="en-US" sz="900" dirty="0"/>
          </a:p>
        </p:txBody>
      </p:sp>
      <p:sp>
        <p:nvSpPr>
          <p:cNvPr id="6" name="Field: DEMO VIDEO LINK"/>
          <p:cNvSpPr/>
          <p:nvPr/>
        </p:nvSpPr>
        <p:spPr>
          <a:xfrm>
            <a:off x="2834640"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DEMO VIDEO LINK</a:t>
            </a:r>
            <a:endParaRPr lang="en-US" sz="900" dirty="0"/>
          </a:p>
          <a:p>
            <a:r>
              <a:rPr lang="en-US" sz="1200" i="1" dirty="0">
                <a:solidFill>
                  <a:srgbClr val="6F7399"/>
                </a:solidFill>
                <a:latin typeface="Calibri" pitchFamily="34" charset="0"/>
                <a:ea typeface="Calibri" pitchFamily="34" charset="-122"/>
                <a:cs typeface="Calibri" pitchFamily="34" charset="-120"/>
              </a:rPr>
              <a:t>https://youtu.be/sFZE3ewlREs</a:t>
            </a:r>
            <a:endParaRPr lang="en-US" sz="900" dirty="0"/>
          </a:p>
        </p:txBody>
      </p:sp>
      <p:pic>
        <p:nvPicPr>
          <p:cNvPr id="7" name="Bloch sphere ring" descr="sphere.png"/>
          <p:cNvPicPr>
            <a:picLocks noChangeAspect="1"/>
          </p:cNvPicPr>
          <p:nvPr/>
        </p:nvPicPr>
        <p:blipFill>
          <a:blip r:embed="rId4"/>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5"/>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6"/>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7"/>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1472</Words>
  <Application>Microsoft Office PowerPoint</Application>
  <PresentationFormat>On-screen Show (16:9)</PresentationFormat>
  <Paragraphs>211</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Georgia</vt:lpstr>
      <vt:lpstr>Nirmala UI</vt:lpstr>
      <vt:lpstr>Qiskit Fall Fest</vt:lpstr>
      <vt:lpstr>PowerPoint Presentation</vt:lpstr>
      <vt:lpstr>Problem Statement</vt:lpstr>
      <vt:lpstr>Objectives &amp; Novelty</vt:lpstr>
      <vt:lpstr>Solution &amp; Quantum Advantage</vt:lpstr>
      <vt:lpstr>Solution &amp; Quantum Advantage</vt:lpstr>
      <vt:lpstr>Algorithm &amp; Circuit Design</vt:lpstr>
      <vt:lpstr>Implementation &amp; Tech Stack</vt:lpstr>
      <vt:lpstr>Implementation &amp; Tech Stack</vt:lpstr>
      <vt:lpstr>Results &amp; Analysis</vt:lpstr>
      <vt:lpstr>Results &amp; Analysis</vt:lpstr>
      <vt:lpstr>Results &amp; Analysis</vt:lpstr>
      <vt:lpstr>Impact &amp; Real-World Applications</vt:lpstr>
      <vt:lpstr>Impact &amp; Real-World Applications</vt:lpstr>
      <vt:lpstr>Challenges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Purvesh Raghatate</cp:lastModifiedBy>
  <cp:revision>3</cp:revision>
  <dcterms:modified xsi:type="dcterms:W3CDTF">2026-10-23T12:13:00Z</dcterms:modified>
</cp:coreProperties>
</file>