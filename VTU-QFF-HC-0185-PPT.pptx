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7" r:id="rId7"/>
    <p:sldId id="262" r:id="rId8"/>
    <p:sldId id="263" r:id="rId9"/>
    <p:sldId id="264" r:id="rId10"/>
    <p:sldId id="265" r:id="rId1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AF0F-3B5E-1ACB-3254-6ECD2417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0DDF2-136F-8C6A-0389-0944F52CB8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7008A8-84FA-8952-00DD-CCB64916CD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0FFC3D-F663-E63E-BB89-0160E2A48D6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18103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vtu-qiskit-fall-fest-2026/vtu-hc-infinity-blaze" TargetMode="External"/><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3840480" y="1261872"/>
            <a:ext cx="484632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r>
              <a:rPr lang="en-IN" sz="1200" dirty="0">
                <a:solidFill>
                  <a:schemeClr val="bg1">
                    <a:lumMod val="50000"/>
                  </a:schemeClr>
                </a:solidFill>
              </a:rPr>
              <a:t>QuantumGreen AI — Quantum-Powered Sustainable Energy Optimizer</a:t>
            </a:r>
            <a:endParaRPr lang="en-US" sz="900" dirty="0">
              <a:solidFill>
                <a:schemeClr val="bg1">
                  <a:lumMod val="50000"/>
                </a:schemeClr>
              </a:solidFill>
            </a:endParaRPr>
          </a:p>
        </p:txBody>
      </p:sp>
      <p:sp>
        <p:nvSpPr>
          <p:cNvPr id="11" name="Field: TRACK"/>
          <p:cNvSpPr/>
          <p:nvPr/>
        </p:nvSpPr>
        <p:spPr>
          <a:xfrm>
            <a:off x="3840480" y="1865376"/>
            <a:ext cx="2286000"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r>
              <a:rPr lang="en-US" sz="900" b="1" kern="0" spc="100" dirty="0">
                <a:solidFill>
                  <a:srgbClr val="5B3BA8"/>
                </a:solidFill>
                <a:latin typeface="Calibri" pitchFamily="34" charset="0"/>
                <a:ea typeface="Calibri" pitchFamily="34" charset="-122"/>
                <a:cs typeface="Calibri" pitchFamily="34" charset="-120"/>
              </a:rPr>
              <a:t>TRACK</a:t>
            </a:r>
          </a:p>
          <a:p>
            <a:r>
              <a:rPr lang="en-IN" sz="1050" dirty="0">
                <a:solidFill>
                  <a:schemeClr val="bg1">
                    <a:lumMod val="50000"/>
                  </a:schemeClr>
                </a:solidFill>
              </a:rPr>
              <a:t>Quantum Applications for Climate Change and Sustainability</a:t>
            </a:r>
            <a:endParaRPr lang="en-US" sz="400" dirty="0">
              <a:solidFill>
                <a:schemeClr val="bg1">
                  <a:lumMod val="50000"/>
                </a:schemeClr>
              </a:solidFill>
            </a:endParaRPr>
          </a:p>
        </p:txBody>
      </p:sp>
      <p:sp>
        <p:nvSpPr>
          <p:cNvPr id="12" name="Field: TEAM NAME"/>
          <p:cNvSpPr/>
          <p:nvPr/>
        </p:nvSpPr>
        <p:spPr>
          <a:xfrm>
            <a:off x="6326459" y="1865376"/>
            <a:ext cx="2360341"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r>
              <a:rPr lang="en-IN" sz="1200" dirty="0">
                <a:solidFill>
                  <a:schemeClr val="bg1">
                    <a:lumMod val="50000"/>
                  </a:schemeClr>
                </a:solidFill>
              </a:rPr>
              <a:t>Infinity Blaze</a:t>
            </a:r>
          </a:p>
        </p:txBody>
      </p:sp>
      <p:sp>
        <p:nvSpPr>
          <p:cNvPr id="13" name="Field: TEAM LEADER"/>
          <p:cNvSpPr/>
          <p:nvPr/>
        </p:nvSpPr>
        <p:spPr>
          <a:xfrm>
            <a:off x="3840480" y="24917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dirty="0">
                <a:solidFill>
                  <a:srgbClr val="6F7399"/>
                </a:solidFill>
                <a:latin typeface="Calibri" pitchFamily="34" charset="0"/>
                <a:ea typeface="Calibri" pitchFamily="34" charset="-122"/>
                <a:cs typeface="Calibri" pitchFamily="34" charset="-120"/>
              </a:rPr>
              <a:t>Purvesh Raghatate</a:t>
            </a:r>
            <a:endParaRPr lang="en-US" sz="900" dirty="0"/>
          </a:p>
        </p:txBody>
      </p:sp>
      <p:sp>
        <p:nvSpPr>
          <p:cNvPr id="14" name="Field: EMAIL / CONTACT"/>
          <p:cNvSpPr/>
          <p:nvPr/>
        </p:nvSpPr>
        <p:spPr>
          <a:xfrm>
            <a:off x="6326459" y="2487168"/>
            <a:ext cx="2360341"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p>
          <a:p>
            <a:pPr marL="0" indent="0" algn="l">
              <a:buNone/>
            </a:pPr>
            <a:r>
              <a:rPr lang="en-US" sz="1100" kern="0" spc="100" dirty="0">
                <a:solidFill>
                  <a:schemeClr val="bg1">
                    <a:lumMod val="50000"/>
                  </a:schemeClr>
                </a:solidFill>
                <a:latin typeface="Calibri" pitchFamily="34" charset="0"/>
                <a:ea typeface="Calibri" pitchFamily="34" charset="-122"/>
                <a:cs typeface="Calibri" pitchFamily="34" charset="-120"/>
              </a:rPr>
              <a:t>purweshraghatate@gmail.com</a:t>
            </a:r>
            <a:endParaRPr lang="en-US" sz="1100" dirty="0">
              <a:solidFill>
                <a:schemeClr val="bg1">
                  <a:lumMod val="50000"/>
                </a:schemeClr>
              </a:solidFill>
            </a:endParaRPr>
          </a:p>
        </p:txBody>
      </p:sp>
      <p:sp>
        <p:nvSpPr>
          <p:cNvPr id="15" name="Field: TEAM MEMBERS"/>
          <p:cNvSpPr/>
          <p:nvPr/>
        </p:nvSpPr>
        <p:spPr>
          <a:xfrm>
            <a:off x="3840480" y="3072384"/>
            <a:ext cx="484632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r>
              <a:rPr lang="en-IN" sz="1200" dirty="0">
                <a:solidFill>
                  <a:schemeClr val="bg1">
                    <a:lumMod val="50000"/>
                  </a:schemeClr>
                </a:solidFill>
              </a:rPr>
              <a:t>Purvesh Raghatate  </a:t>
            </a:r>
            <a:r>
              <a:rPr lang="en-US" sz="1200" i="1" dirty="0">
                <a:solidFill>
                  <a:schemeClr val="bg1">
                    <a:lumMod val="50000"/>
                  </a:schemeClr>
                </a:solidFill>
                <a:latin typeface="Calibri" pitchFamily="34" charset="0"/>
                <a:ea typeface="Calibri" pitchFamily="34" charset="-122"/>
                <a:cs typeface="Calibri" pitchFamily="34" charset="-120"/>
              </a:rPr>
              <a:t>·  </a:t>
            </a:r>
            <a:r>
              <a:rPr lang="en-IN" sz="1200" dirty="0">
                <a:solidFill>
                  <a:schemeClr val="bg1">
                    <a:lumMod val="50000"/>
                  </a:schemeClr>
                </a:solidFill>
              </a:rPr>
              <a:t>Sahil Jadhao</a:t>
            </a:r>
            <a:r>
              <a:rPr lang="en-US" sz="900" i="1" dirty="0">
                <a:solidFill>
                  <a:schemeClr val="bg1">
                    <a:lumMod val="50000"/>
                  </a:schemeClr>
                </a:solidFill>
                <a:latin typeface="Calibri" pitchFamily="34" charset="0"/>
                <a:ea typeface="Calibri" pitchFamily="34" charset="-122"/>
                <a:cs typeface="Calibri" pitchFamily="34" charset="-120"/>
              </a:rPr>
              <a:t>  </a:t>
            </a:r>
            <a:r>
              <a:rPr lang="en-US" sz="1200" i="1" dirty="0">
                <a:solidFill>
                  <a:schemeClr val="bg1">
                    <a:lumMod val="50000"/>
                  </a:schemeClr>
                </a:solidFill>
                <a:latin typeface="Calibri" pitchFamily="34" charset="0"/>
                <a:ea typeface="Calibri" pitchFamily="34" charset="-122"/>
                <a:cs typeface="Calibri" pitchFamily="34" charset="-120"/>
              </a:rPr>
              <a:t>·  </a:t>
            </a:r>
            <a:r>
              <a:rPr lang="en-IN" sz="1200" dirty="0">
                <a:solidFill>
                  <a:schemeClr val="bg1">
                    <a:lumMod val="50000"/>
                  </a:schemeClr>
                </a:solidFill>
              </a:rPr>
              <a:t>Manish Rajak</a:t>
            </a:r>
            <a:endParaRPr lang="en-US" sz="900" dirty="0">
              <a:solidFill>
                <a:schemeClr val="bg1">
                  <a:lumMod val="50000"/>
                </a:schemeClr>
              </a:solidFill>
            </a:endParaRPr>
          </a:p>
        </p:txBody>
      </p:sp>
      <p:sp>
        <p:nvSpPr>
          <p:cNvPr id="16" name="Field: INSTITUTION / ORGANISATION"/>
          <p:cNvSpPr/>
          <p:nvPr/>
        </p:nvSpPr>
        <p:spPr>
          <a:xfrm>
            <a:off x="3840481" y="3922776"/>
            <a:ext cx="2485978"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800" b="1" kern="0" spc="100" dirty="0">
                <a:solidFill>
                  <a:srgbClr val="5B3BA8"/>
                </a:solidFill>
                <a:latin typeface="Calibri" pitchFamily="34" charset="0"/>
                <a:ea typeface="Calibri" pitchFamily="34" charset="-122"/>
                <a:cs typeface="Calibri" pitchFamily="34" charset="-120"/>
              </a:rPr>
              <a:t>INSTITUTION / ORGANISATION</a:t>
            </a:r>
            <a:endParaRPr lang="en-US" sz="800" dirty="0"/>
          </a:p>
          <a:p>
            <a:pPr marL="0" indent="0" algn="l">
              <a:buNone/>
            </a:pPr>
            <a:r>
              <a:rPr lang="en-US" sz="1000" dirty="0">
                <a:solidFill>
                  <a:schemeClr val="bg1">
                    <a:lumMod val="50000"/>
                  </a:schemeClr>
                </a:solidFill>
              </a:rPr>
              <a:t>Yeshwantrao Chavan College of Engineering</a:t>
            </a:r>
          </a:p>
        </p:txBody>
      </p:sp>
      <p:sp>
        <p:nvSpPr>
          <p:cNvPr id="17" name="Field: COUNTRY"/>
          <p:cNvSpPr/>
          <p:nvPr/>
        </p:nvSpPr>
        <p:spPr>
          <a:xfrm>
            <a:off x="6400800" y="3922776"/>
            <a:ext cx="2286000" cy="603504"/>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792628" y="1872159"/>
            <a:ext cx="7340327" cy="2677539"/>
          </a:xfrm>
          <a:prstGeom prst="rect">
            <a:avLst/>
          </a:prstGeom>
          <a:noFill/>
          <a:ln/>
        </p:spPr>
        <p:txBody>
          <a:bodyPr wrap="square" lIns="0" tIns="0" rIns="0" bIns="0" rtlCol="0" anchor="t"/>
          <a:lstStyle/>
          <a:p>
            <a:r>
              <a:rPr lang="en-IN" sz="1400" dirty="0"/>
              <a:t>Today, electricity demand changes throughout the day. Solar power generation also changes depending on sunlight and weather. Electricity prices may vary by time.</a:t>
            </a:r>
          </a:p>
          <a:p>
            <a:r>
              <a:rPr lang="en-IN" sz="1400" dirty="0"/>
              <a:t>Because of this, homes, businesses, and solar installation companies may not always use available solar energy at the best time. They may use more electricity from the grid, which can increase electricity costs.</a:t>
            </a:r>
          </a:p>
          <a:p>
            <a:endParaRPr lang="en-IN" sz="1400" dirty="0"/>
          </a:p>
          <a:p>
            <a:r>
              <a:rPr lang="en-IN" sz="1400" dirty="0"/>
              <a:t>Our project, </a:t>
            </a:r>
            <a:r>
              <a:rPr lang="en-IN" sz="1400" b="1" dirty="0"/>
              <a:t>QuantumGreen AI</a:t>
            </a:r>
            <a:r>
              <a:rPr lang="en-IN" sz="1400" dirty="0"/>
              <a:t>, aims to help users choose better time slots for flexible electricity use by comparing electricity demand, solar generation, and electricity prices.</a:t>
            </a:r>
          </a:p>
          <a:p>
            <a:endParaRPr lang="en-IN" sz="1400" dirty="0"/>
          </a:p>
          <a:p>
            <a:r>
              <a:rPr lang="en-IN" sz="1400" b="1" dirty="0"/>
              <a:t>Main problem: </a:t>
            </a:r>
            <a:r>
              <a:rPr lang="en-IN" sz="1400" dirty="0"/>
              <a:t>How can we choose the best time slots to reduce estimated electricity costs while making better use of available solar energy?</a:t>
            </a:r>
          </a:p>
          <a:p>
            <a:endParaRPr lang="en-IN"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dirty="0"/>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p:cNvSpPr txBox="1"/>
          <p:nvPr/>
        </p:nvSpPr>
        <p:spPr>
          <a:xfrm>
            <a:off x="731520" y="1874519"/>
            <a:ext cx="3200400" cy="2593403"/>
          </a:xfrm>
          <a:prstGeom prst="rect">
            <a:avLst/>
          </a:prstGeom>
          <a:noFill/>
          <a:ln/>
        </p:spPr>
        <p:txBody>
          <a:bodyPr wrap="square" lIns="0" tIns="0" rIns="0" bIns="0" rtlCol="0" anchor="t"/>
          <a:lstStyle/>
          <a:p>
            <a:r>
              <a:rPr lang="en-IN" sz="1200" b="1" dirty="0"/>
              <a:t>Objectives</a:t>
            </a:r>
          </a:p>
          <a:p>
            <a:endParaRPr lang="en-IN" sz="1200" b="1" dirty="0"/>
          </a:p>
          <a:p>
            <a:pPr marL="171450" lvl="0" indent="-171450">
              <a:buFont typeface="Arial" panose="020B0604020202020204" pitchFamily="34" charset="0"/>
              <a:buChar char="•"/>
            </a:pPr>
            <a:r>
              <a:rPr lang="en-IN" sz="1200" dirty="0"/>
              <a:t>Reduce estimated electricity costs by selecting suitable time slots.</a:t>
            </a:r>
          </a:p>
          <a:p>
            <a:pPr marL="171450" lvl="0" indent="-171450">
              <a:buFont typeface="Arial" panose="020B0604020202020204" pitchFamily="34" charset="0"/>
              <a:buChar char="•"/>
            </a:pPr>
            <a:r>
              <a:rPr lang="en-IN" sz="1200" dirty="0"/>
              <a:t>Compare electricity demand, solar generation, and electricity prices.</a:t>
            </a:r>
          </a:p>
          <a:p>
            <a:pPr marL="171450" lvl="0" indent="-171450">
              <a:buFont typeface="Arial" panose="020B0604020202020204" pitchFamily="34" charset="0"/>
              <a:buChar char="•"/>
            </a:pPr>
            <a:r>
              <a:rPr lang="en-IN" sz="1200" dirty="0"/>
              <a:t>Use an optimization algorithm to find a low-cost schedule.</a:t>
            </a:r>
          </a:p>
          <a:p>
            <a:pPr marL="171450" lvl="0" indent="-171450">
              <a:buFont typeface="Arial" panose="020B0604020202020204" pitchFamily="34" charset="0"/>
              <a:buChar char="•"/>
            </a:pPr>
            <a:r>
              <a:rPr lang="en-IN" sz="1200" dirty="0"/>
              <a:t>Explore QAOA, a quantum-inspired-by-quantum-computing approach, for the scheduling problem.</a:t>
            </a:r>
          </a:p>
          <a:p>
            <a:pPr marL="171450" lvl="0" indent="-171450">
              <a:buFont typeface="Arial" panose="020B0604020202020204" pitchFamily="34" charset="0"/>
              <a:buChar char="•"/>
            </a:pPr>
            <a:r>
              <a:rPr lang="en-IN" sz="1200" dirty="0"/>
              <a:t>Show the results in a simple, interactive dashboard.</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12" name="TextBox 11">
            <a:extLst>
              <a:ext uri="{FF2B5EF4-FFF2-40B4-BE49-F238E27FC236}">
                <a16:creationId xmlns:a16="http://schemas.microsoft.com/office/drawing/2014/main" id="{5098F859-4563-3505-294F-9D70FB2BCAF4}"/>
              </a:ext>
            </a:extLst>
          </p:cNvPr>
          <p:cNvSpPr txBox="1"/>
          <p:nvPr/>
        </p:nvSpPr>
        <p:spPr>
          <a:xfrm>
            <a:off x="4395811" y="1770836"/>
            <a:ext cx="3925229" cy="2800767"/>
          </a:xfrm>
          <a:prstGeom prst="rect">
            <a:avLst/>
          </a:prstGeom>
          <a:noFill/>
        </p:spPr>
        <p:txBody>
          <a:bodyPr wrap="square" rtlCol="0">
            <a:spAutoFit/>
          </a:bodyPr>
          <a:lstStyle/>
          <a:p>
            <a:r>
              <a:rPr lang="en-IN" sz="1100" b="1" dirty="0"/>
              <a:t>What is new about our project?</a:t>
            </a:r>
          </a:p>
          <a:p>
            <a:endParaRPr lang="en-IN" sz="1100" b="1" dirty="0"/>
          </a:p>
          <a:p>
            <a:r>
              <a:rPr lang="en-IN" sz="1100" dirty="0"/>
              <a:t>The main idea is to combine sustainable energy scheduling with quantum optimization techniques in one simple dashboard.</a:t>
            </a:r>
          </a:p>
          <a:p>
            <a:r>
              <a:rPr lang="en-IN" sz="1100" dirty="0"/>
              <a:t>Our prototype compares two approaches:</a:t>
            </a:r>
          </a:p>
          <a:p>
            <a:endParaRPr lang="en-IN" sz="1100" dirty="0"/>
          </a:p>
          <a:p>
            <a:pPr lvl="0"/>
            <a:r>
              <a:rPr lang="en-IN" sz="1100" b="1" dirty="0"/>
              <a:t>1)Classical optimization: </a:t>
            </a:r>
            <a:r>
              <a:rPr lang="en-IN" sz="1100" dirty="0"/>
              <a:t>Checks all possible schedules for the four available time slots and finds the best valid one.</a:t>
            </a:r>
          </a:p>
          <a:p>
            <a:pPr lvl="0"/>
            <a:endParaRPr lang="en-IN" sz="1100" dirty="0"/>
          </a:p>
          <a:p>
            <a:pPr lvl="0"/>
            <a:r>
              <a:rPr lang="en-IN" sz="1100" b="1" dirty="0"/>
              <a:t>2)QAOA: </a:t>
            </a:r>
            <a:r>
              <a:rPr lang="en-IN" sz="1100" dirty="0"/>
              <a:t>Uses a quantum circuit simulation and a classical optimizer to search for a good schedule.</a:t>
            </a:r>
          </a:p>
          <a:p>
            <a:pPr lvl="0"/>
            <a:endParaRPr lang="en-IN" sz="1100" dirty="0"/>
          </a:p>
          <a:p>
            <a:r>
              <a:rPr lang="en-IN" sz="1100" dirty="0"/>
              <a:t>This comparison helps us study how quantum optimization methods could be used for future energy problems.</a:t>
            </a:r>
          </a:p>
          <a:p>
            <a:r>
              <a:rPr lang="en-IN" sz="1100" dirty="0"/>
              <a:t>Note: This is a prototype using sample data. It does not yet predict future energy demand or control real electrical devices.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300674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8" name="Text 6"/>
          <p:cNvSpPr txBox="1"/>
          <p:nvPr/>
        </p:nvSpPr>
        <p:spPr>
          <a:xfrm>
            <a:off x="685799" y="1844782"/>
            <a:ext cx="7878337" cy="2538539"/>
          </a:xfrm>
          <a:prstGeom prst="rect">
            <a:avLst/>
          </a:prstGeom>
          <a:noFill/>
          <a:ln/>
        </p:spPr>
        <p:txBody>
          <a:bodyPr wrap="square" lIns="0" tIns="0" rIns="0" bIns="0" rtlCol="0" anchor="t"/>
          <a:lstStyle/>
          <a:p>
            <a:r>
              <a:rPr lang="en-IN" sz="1200" b="1" dirty="0"/>
              <a:t>Our solution</a:t>
            </a:r>
          </a:p>
          <a:p>
            <a:r>
              <a:rPr lang="en-IN" sz="1200" dirty="0"/>
              <a:t>QuantumGreen AI follows these basic steps:</a:t>
            </a:r>
          </a:p>
          <a:p>
            <a:endParaRPr lang="en-IN" sz="1200" dirty="0"/>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pic>
        <p:nvPicPr>
          <p:cNvPr id="10" name="Picture 9">
            <a:extLst>
              <a:ext uri="{FF2B5EF4-FFF2-40B4-BE49-F238E27FC236}">
                <a16:creationId xmlns:a16="http://schemas.microsoft.com/office/drawing/2014/main" id="{2790E339-9359-871D-979B-C715B90438F0}"/>
              </a:ext>
            </a:extLst>
          </p:cNvPr>
          <p:cNvPicPr>
            <a:picLocks noChangeAspect="1"/>
          </p:cNvPicPr>
          <p:nvPr/>
        </p:nvPicPr>
        <p:blipFill>
          <a:blip r:embed="rId3"/>
          <a:stretch>
            <a:fillRect/>
          </a:stretch>
        </p:blipFill>
        <p:spPr>
          <a:xfrm>
            <a:off x="685799" y="2206702"/>
            <a:ext cx="4692970" cy="24916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txBody>
          <a:bodyPr/>
          <a:lstStyle/>
          <a:p>
            <a:endParaRPr lang="en-IN"/>
          </a:p>
        </p:txBody>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circuit diagram</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e.g. qc.draw("mpl")</a:t>
            </a:r>
            <a:endParaRPr lang="en-US" sz="1400" dirty="0"/>
          </a:p>
        </p:txBody>
      </p:sp>
      <p:sp>
        <p:nvSpPr>
          <p:cNvPr id="8" name="Content card"/>
          <p:cNvSpPr/>
          <p:nvPr/>
        </p:nvSpPr>
        <p:spPr>
          <a:xfrm>
            <a:off x="5577839" y="1691640"/>
            <a:ext cx="3402609"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10" name="Text 8"/>
          <p:cNvSpPr txBox="1"/>
          <p:nvPr/>
        </p:nvSpPr>
        <p:spPr>
          <a:xfrm>
            <a:off x="5669280" y="1874520"/>
            <a:ext cx="3200400" cy="2427732"/>
          </a:xfrm>
          <a:prstGeom prst="rect">
            <a:avLst/>
          </a:prstGeom>
          <a:noFill/>
          <a:ln/>
        </p:spPr>
        <p:txBody>
          <a:bodyPr wrap="square" lIns="0" tIns="0" rIns="0" bIns="0" rtlCol="0" anchor="t"/>
          <a:lstStyle/>
          <a:p>
            <a:r>
              <a:rPr lang="en-IN" sz="1200" b="1" dirty="0"/>
              <a:t>Algorithm in simple steps:</a:t>
            </a:r>
          </a:p>
          <a:p>
            <a:endParaRPr lang="en-IN" sz="1200" b="1" dirty="0"/>
          </a:p>
          <a:p>
            <a:pPr marL="228600" lvl="0" indent="-228600">
              <a:buAutoNum type="arabicParenR"/>
            </a:pPr>
            <a:r>
              <a:rPr lang="en-IN" sz="1200" dirty="0"/>
              <a:t>Load the sample energy data.</a:t>
            </a:r>
          </a:p>
          <a:p>
            <a:pPr lvl="0"/>
            <a:r>
              <a:rPr lang="en-IN" sz="1200" dirty="0"/>
              <a:t>2) Create a cost function for possible schedules.</a:t>
            </a:r>
          </a:p>
          <a:p>
            <a:pPr lvl="0"/>
            <a:r>
              <a:rPr lang="en-IN" sz="1200" dirty="0"/>
              <a:t>3) Run the classical optimizer to find the exact best schedule.</a:t>
            </a:r>
          </a:p>
          <a:p>
            <a:pPr lvl="0"/>
            <a:r>
              <a:rPr lang="en-IN" sz="1200" dirty="0"/>
              <a:t>4) Initialize QAOA parameters, gamma and beta.</a:t>
            </a:r>
          </a:p>
          <a:p>
            <a:pPr lvl="0"/>
            <a:r>
              <a:rPr lang="en-IN" sz="1200" dirty="0"/>
              <a:t>5) Simulate the QAOA circuit and sample candidate schedules.</a:t>
            </a:r>
          </a:p>
          <a:p>
            <a:pPr lvl="0"/>
            <a:r>
              <a:rPr lang="en-IN" sz="1200" dirty="0"/>
              <a:t>6) Calculate the cost of the sampled schedules.</a:t>
            </a:r>
          </a:p>
          <a:p>
            <a:pPr lvl="0"/>
            <a:r>
              <a:rPr lang="en-IN" sz="1200" dirty="0"/>
              <a:t>7) Adjust the QAOA parameters and repeat the circuit.</a:t>
            </a:r>
          </a:p>
          <a:p>
            <a:pPr lvl="0"/>
            <a:r>
              <a:rPr lang="en-IN" sz="1200" dirty="0"/>
              <a:t>8) Display the best observed valid QAOA schedule and compare it with the classical result.</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pic>
        <p:nvPicPr>
          <p:cNvPr id="14" name="Picture 13">
            <a:extLst>
              <a:ext uri="{FF2B5EF4-FFF2-40B4-BE49-F238E27FC236}">
                <a16:creationId xmlns:a16="http://schemas.microsoft.com/office/drawing/2014/main" id="{69A9BCE7-BCD9-143F-4DF9-24D27312F882}"/>
              </a:ext>
            </a:extLst>
          </p:cNvPr>
          <p:cNvPicPr>
            <a:picLocks noChangeAspect="1"/>
          </p:cNvPicPr>
          <p:nvPr/>
        </p:nvPicPr>
        <p:blipFill>
          <a:blip r:embed="rId3"/>
          <a:stretch>
            <a:fillRect/>
          </a:stretch>
        </p:blipFill>
        <p:spPr>
          <a:xfrm>
            <a:off x="466347" y="1719072"/>
            <a:ext cx="4919466" cy="28913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28D6D-8449-F74A-535E-B2EF5D88D7EC}"/>
            </a:ext>
          </a:extLst>
        </p:cNvPr>
        <p:cNvGrpSpPr/>
        <p:nvPr/>
      </p:nvGrpSpPr>
      <p:grpSpPr>
        <a:xfrm>
          <a:off x="0" y="0"/>
          <a:ext cx="0" cy="0"/>
          <a:chOff x="0" y="0"/>
          <a:chExt cx="0" cy="0"/>
        </a:xfrm>
      </p:grpSpPr>
      <p:sp>
        <p:nvSpPr>
          <p:cNvPr id="2" name="Text 14">
            <a:extLst>
              <a:ext uri="{FF2B5EF4-FFF2-40B4-BE49-F238E27FC236}">
                <a16:creationId xmlns:a16="http://schemas.microsoft.com/office/drawing/2014/main" id="{E9317858-DCE8-4C10-81A8-E2FE2FB13C9F}"/>
              </a:ext>
            </a:extLst>
          </p:cNvPr>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a:extLst>
              <a:ext uri="{FF2B5EF4-FFF2-40B4-BE49-F238E27FC236}">
                <a16:creationId xmlns:a16="http://schemas.microsoft.com/office/drawing/2014/main" id="{676B569C-BE98-1DFA-1777-4A96F833F3CC}"/>
              </a:ext>
            </a:extLst>
          </p:cNvPr>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a:extLst>
              <a:ext uri="{FF2B5EF4-FFF2-40B4-BE49-F238E27FC236}">
                <a16:creationId xmlns:a16="http://schemas.microsoft.com/office/drawing/2014/main" id="{252B3354-579B-CADE-CBFC-5BD61A30F6CB}"/>
              </a:ext>
            </a:extLst>
          </p:cNvPr>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a:extLst>
              <a:ext uri="{FF2B5EF4-FFF2-40B4-BE49-F238E27FC236}">
                <a16:creationId xmlns:a16="http://schemas.microsoft.com/office/drawing/2014/main" id="{73846D69-FB24-CEFD-446A-8E10165877F3}"/>
              </a:ext>
            </a:extLst>
          </p:cNvPr>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a:extLst>
              <a:ext uri="{FF2B5EF4-FFF2-40B4-BE49-F238E27FC236}">
                <a16:creationId xmlns:a16="http://schemas.microsoft.com/office/drawing/2014/main" id="{AC4BB14A-0B60-B005-A3DF-0E2B904C46F8}"/>
              </a:ext>
            </a:extLst>
          </p:cNvPr>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a:extLst>
              <a:ext uri="{FF2B5EF4-FFF2-40B4-BE49-F238E27FC236}">
                <a16:creationId xmlns:a16="http://schemas.microsoft.com/office/drawing/2014/main" id="{B12B59A0-6625-5273-9A8C-370D59C09850}"/>
              </a:ext>
            </a:extLst>
          </p:cNvPr>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8" name="Text 6">
            <a:extLst>
              <a:ext uri="{FF2B5EF4-FFF2-40B4-BE49-F238E27FC236}">
                <a16:creationId xmlns:a16="http://schemas.microsoft.com/office/drawing/2014/main" id="{DB87DA39-C92E-0683-475E-5D2D411F0CAA}"/>
              </a:ext>
            </a:extLst>
          </p:cNvPr>
          <p:cNvSpPr txBox="1"/>
          <p:nvPr/>
        </p:nvSpPr>
        <p:spPr>
          <a:xfrm>
            <a:off x="731520" y="1874519"/>
            <a:ext cx="7676500" cy="2533929"/>
          </a:xfrm>
          <a:prstGeom prst="rect">
            <a:avLst/>
          </a:prstGeom>
          <a:noFill/>
          <a:ln/>
        </p:spPr>
        <p:txBody>
          <a:bodyPr wrap="square" lIns="0" tIns="0" rIns="0" bIns="0" rtlCol="0" anchor="t"/>
          <a:lstStyle/>
          <a:p>
            <a:r>
              <a:rPr lang="en-IN" sz="1400" b="1" dirty="0"/>
              <a:t>How we implemented the project</a:t>
            </a:r>
          </a:p>
          <a:p>
            <a:endParaRPr lang="en-IN" sz="1400" b="1" dirty="0"/>
          </a:p>
          <a:p>
            <a:pPr marL="171450" lvl="0" indent="-171450">
              <a:buFont typeface="Arial" panose="020B0604020202020204" pitchFamily="34" charset="0"/>
              <a:buChar char="•"/>
            </a:pPr>
            <a:r>
              <a:rPr lang="en-IN" sz="1400" dirty="0"/>
              <a:t>We created sample energy data for four time slots.</a:t>
            </a:r>
          </a:p>
          <a:p>
            <a:pPr marL="171450" lvl="0" indent="-171450">
              <a:buFont typeface="Arial" panose="020B0604020202020204" pitchFamily="34" charset="0"/>
              <a:buChar char="•"/>
            </a:pPr>
            <a:r>
              <a:rPr lang="en-IN" sz="1400" dirty="0"/>
              <a:t>We used electricity prices, demand, and solar generation to estimate scheduling costs.</a:t>
            </a:r>
          </a:p>
          <a:p>
            <a:pPr marL="171450" lvl="0" indent="-171450">
              <a:buFont typeface="Arial" panose="020B0604020202020204" pitchFamily="34" charset="0"/>
              <a:buChar char="•"/>
            </a:pPr>
            <a:r>
              <a:rPr lang="en-IN" sz="1400" dirty="0"/>
              <a:t>We implemented an exact classical search by checking all 2^4 = 16 possible binary schedules.</a:t>
            </a:r>
          </a:p>
          <a:p>
            <a:pPr marL="171450" lvl="0" indent="-171450">
              <a:buFont typeface="Arial" panose="020B0604020202020204" pitchFamily="34" charset="0"/>
              <a:buChar char="•"/>
            </a:pPr>
            <a:r>
              <a:rPr lang="en-IN" sz="1400" dirty="0"/>
              <a:t>We added a QAOA simulation to sample possible solutions.</a:t>
            </a:r>
          </a:p>
          <a:p>
            <a:pPr marL="171450" lvl="0" indent="-171450">
              <a:buFont typeface="Arial" panose="020B0604020202020204" pitchFamily="34" charset="0"/>
              <a:buChar char="•"/>
            </a:pPr>
            <a:r>
              <a:rPr lang="en-IN" sz="1400" dirty="0"/>
              <a:t>We used </a:t>
            </a:r>
            <a:r>
              <a:rPr lang="en-IN" sz="1400" dirty="0" err="1"/>
              <a:t>Streamlit</a:t>
            </a:r>
            <a:r>
              <a:rPr lang="en-IN" sz="1400" dirty="0"/>
              <a:t> to display the data and compare the results.</a:t>
            </a:r>
          </a:p>
          <a:p>
            <a:pPr lvl="0"/>
            <a:endParaRPr lang="en-IN" sz="1400" dirty="0"/>
          </a:p>
          <a:p>
            <a:r>
              <a:rPr lang="en-IN" sz="1400" dirty="0"/>
              <a:t>Current project status: A software prototype using sample data. Live electricity data, machine-learning forecasting, real hardware control, and execution on a real quantum computer are not yet implemented.</a:t>
            </a:r>
          </a:p>
          <a:p>
            <a:pPr marL="0" indent="0">
              <a:buNone/>
            </a:pPr>
            <a:endParaRPr lang="en-US" sz="1200" dirty="0"/>
          </a:p>
        </p:txBody>
      </p:sp>
      <p:sp>
        <p:nvSpPr>
          <p:cNvPr id="25" name="Slide Number Placeholder 0">
            <a:extLst>
              <a:ext uri="{FF2B5EF4-FFF2-40B4-BE49-F238E27FC236}">
                <a16:creationId xmlns:a16="http://schemas.microsoft.com/office/drawing/2014/main" id="{FB1CEBC6-55D6-40DF-9D71-81BE02F890BC}"/>
              </a:ext>
            </a:extLst>
          </p:cNvPr>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Tree>
    <p:extLst>
      <p:ext uri="{BB962C8B-B14F-4D97-AF65-F5344CB8AC3E}">
        <p14:creationId xmlns:p14="http://schemas.microsoft.com/office/powerpoint/2010/main" val="1012273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p:cNvSpPr/>
          <p:nvPr/>
        </p:nvSpPr>
        <p:spPr>
          <a:xfrm>
            <a:off x="5211950" y="1662851"/>
            <a:ext cx="3816077" cy="3057831"/>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445512" y="1718812"/>
            <a:ext cx="822960" cy="54864"/>
          </a:xfrm>
          <a:prstGeom prst="rect">
            <a:avLst/>
          </a:prstGeom>
          <a:solidFill>
            <a:srgbClr val="5B3BA8"/>
          </a:solidFill>
          <a:ln w="12700">
            <a:solidFill>
              <a:srgbClr val="5B3BA8"/>
            </a:solidFill>
            <a:prstDash val="solid"/>
          </a:ln>
        </p:spPr>
        <p:txBody>
          <a:bodyPr/>
          <a:lstStyle/>
          <a:p>
            <a:endParaRPr lang="en-IN"/>
          </a:p>
        </p:txBody>
      </p:sp>
      <p:sp>
        <p:nvSpPr>
          <p:cNvPr id="10" name="Text 8"/>
          <p:cNvSpPr txBox="1"/>
          <p:nvPr/>
        </p:nvSpPr>
        <p:spPr>
          <a:xfrm>
            <a:off x="5274155" y="1917602"/>
            <a:ext cx="3753872" cy="2560319"/>
          </a:xfrm>
          <a:prstGeom prst="rect">
            <a:avLst/>
          </a:prstGeom>
          <a:noFill/>
          <a:ln/>
        </p:spPr>
        <p:txBody>
          <a:bodyPr wrap="square" lIns="0" tIns="0" rIns="0" bIns="0" rtlCol="0" anchor="t"/>
          <a:lstStyle/>
          <a:p>
            <a:r>
              <a:rPr lang="en-IN" sz="1200" dirty="0"/>
              <a:t>This graph shows how solar generation, electricity demand (load), and grid power change throughout the day.</a:t>
            </a:r>
          </a:p>
          <a:p>
            <a:endParaRPr lang="en-IN" sz="1200" dirty="0"/>
          </a:p>
          <a:p>
            <a:pPr lvl="0"/>
            <a:r>
              <a:rPr lang="en-IN" sz="1200" b="1" dirty="0"/>
              <a:t>Solar (orange): </a:t>
            </a:r>
            <a:r>
              <a:rPr lang="en-IN" sz="1200" dirty="0"/>
              <a:t>Generation increases in the morning, peaks around 11 AM–12 PM, and falls to zero in the evening.</a:t>
            </a:r>
          </a:p>
          <a:p>
            <a:pPr lvl="0"/>
            <a:endParaRPr lang="en-IN" sz="1200" dirty="0"/>
          </a:p>
          <a:p>
            <a:pPr lvl="0"/>
            <a:r>
              <a:rPr lang="en-IN" sz="1200" b="1" dirty="0"/>
              <a:t>Load (grey): </a:t>
            </a:r>
            <a:r>
              <a:rPr lang="en-IN" sz="1200" dirty="0"/>
              <a:t>Electricity demand changes throughout the day, with high demand in the morning and evening.</a:t>
            </a:r>
          </a:p>
          <a:p>
            <a:pPr lvl="0"/>
            <a:endParaRPr lang="en-IN" sz="1200" dirty="0"/>
          </a:p>
          <a:p>
            <a:pPr lvl="0"/>
            <a:r>
              <a:rPr lang="en-IN" sz="1200" b="1" dirty="0"/>
              <a:t>Grid (green): </a:t>
            </a:r>
            <a:r>
              <a:rPr lang="en-IN" sz="1200" dirty="0"/>
              <a:t>Grid power helps meet demand when solar energy is insufficient.</a:t>
            </a:r>
          </a:p>
          <a:p>
            <a:pPr lvl="0"/>
            <a:endParaRPr lang="en-IN" sz="1200" dirty="0"/>
          </a:p>
          <a:p>
            <a:r>
              <a:rPr lang="en-IN" sz="1200" b="1" dirty="0"/>
              <a:t>Purpose: </a:t>
            </a:r>
            <a:r>
              <a:rPr lang="en-IN" sz="1200" dirty="0"/>
              <a:t>To understand when solar energy is available and when the system may need grid electricity or battery support.</a:t>
            </a:r>
          </a:p>
          <a:p>
            <a:endParaRPr lang="en-US" sz="1200" dirty="0"/>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pic>
        <p:nvPicPr>
          <p:cNvPr id="12" name="Picture 11">
            <a:extLst>
              <a:ext uri="{FF2B5EF4-FFF2-40B4-BE49-F238E27FC236}">
                <a16:creationId xmlns:a16="http://schemas.microsoft.com/office/drawing/2014/main" id="{C2AD5595-D9A4-2FB3-87B7-79870226F3F4}"/>
              </a:ext>
            </a:extLst>
          </p:cNvPr>
          <p:cNvPicPr>
            <a:picLocks noChangeAspect="1"/>
          </p:cNvPicPr>
          <p:nvPr/>
        </p:nvPicPr>
        <p:blipFill>
          <a:blip r:embed="rId3"/>
          <a:stretch>
            <a:fillRect/>
          </a:stretch>
        </p:blipFill>
        <p:spPr>
          <a:xfrm>
            <a:off x="115973" y="1718812"/>
            <a:ext cx="4917929" cy="2870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8" name="Text 6"/>
          <p:cNvSpPr txBox="1"/>
          <p:nvPr/>
        </p:nvSpPr>
        <p:spPr>
          <a:xfrm>
            <a:off x="585216" y="1815085"/>
            <a:ext cx="8001000" cy="2926079"/>
          </a:xfrm>
          <a:prstGeom prst="rect">
            <a:avLst/>
          </a:prstGeom>
          <a:noFill/>
          <a:ln/>
        </p:spPr>
        <p:txBody>
          <a:bodyPr wrap="square" lIns="0" tIns="0" rIns="0" bIns="0" rtlCol="0" anchor="t"/>
          <a:lstStyle/>
          <a:p>
            <a:r>
              <a:rPr lang="en-IN" sz="1200" dirty="0"/>
              <a:t>Our project could support better energy decisions in the future, especially when combined with real data and practical scheduling constraints.</a:t>
            </a:r>
          </a:p>
          <a:p>
            <a:endParaRPr lang="en-IN" sz="1200" dirty="0"/>
          </a:p>
          <a:p>
            <a:r>
              <a:rPr lang="en-IN" sz="1200" b="1" dirty="0"/>
              <a:t>1. Solar installation companies</a:t>
            </a:r>
          </a:p>
          <a:p>
            <a:r>
              <a:rPr lang="en-IN" sz="1200" dirty="0"/>
              <a:t>Help customers understand when electricity use may be cheaper and how solar generation relates to their demand.</a:t>
            </a:r>
          </a:p>
          <a:p>
            <a:endParaRPr lang="en-IN" sz="1200" dirty="0"/>
          </a:p>
          <a:p>
            <a:r>
              <a:rPr lang="en-IN" sz="1200" b="1" dirty="0"/>
              <a:t>2. Commercial buildings</a:t>
            </a:r>
          </a:p>
          <a:p>
            <a:r>
              <a:rPr lang="en-IN" sz="1200" dirty="0"/>
              <a:t>Explore better schedules for flexible equipment, such as pumps or selected industrial loads, where operating constraints allow.</a:t>
            </a:r>
          </a:p>
          <a:p>
            <a:endParaRPr lang="en-IN" sz="1200" dirty="0"/>
          </a:p>
          <a:p>
            <a:r>
              <a:rPr lang="en-IN" sz="1200" b="1" dirty="0"/>
              <a:t>3. Solar and battery systems</a:t>
            </a:r>
          </a:p>
          <a:p>
            <a:r>
              <a:rPr lang="en-IN" sz="1200" dirty="0"/>
              <a:t>A future version could consider battery charging and discharging schedules to help reduce grid electricity costs.</a:t>
            </a:r>
          </a:p>
          <a:p>
            <a:endParaRPr lang="en-IN" sz="1200" dirty="0"/>
          </a:p>
          <a:p>
            <a:r>
              <a:rPr lang="en-IN" sz="1200" b="1" dirty="0"/>
              <a:t>4. Electric vehicle charging</a:t>
            </a:r>
          </a:p>
          <a:p>
            <a:r>
              <a:rPr lang="en-IN" sz="1200" dirty="0"/>
              <a:t>A future version could recommend charging times based on electricity prices, solar availability, and when the vehicle is needed.</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3066214"/>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ma14="http://schemas.microsoft.com/office/mac/drawingml/2011/main" xmlns=""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
        <p:nvSpPr>
          <p:cNvPr id="9" name="TextBox 8">
            <a:extLst>
              <a:ext uri="{FF2B5EF4-FFF2-40B4-BE49-F238E27FC236}">
                <a16:creationId xmlns:a16="http://schemas.microsoft.com/office/drawing/2014/main" id="{BDE34DFE-D037-8937-C335-8776AC51C1DC}"/>
              </a:ext>
            </a:extLst>
          </p:cNvPr>
          <p:cNvSpPr txBox="1"/>
          <p:nvPr/>
        </p:nvSpPr>
        <p:spPr>
          <a:xfrm>
            <a:off x="585216" y="1746504"/>
            <a:ext cx="7332150" cy="3231654"/>
          </a:xfrm>
          <a:prstGeom prst="rect">
            <a:avLst/>
          </a:prstGeom>
          <a:noFill/>
        </p:spPr>
        <p:txBody>
          <a:bodyPr wrap="square" rtlCol="0">
            <a:spAutoFit/>
          </a:bodyPr>
          <a:lstStyle/>
          <a:p>
            <a:r>
              <a:rPr lang="en-IN" sz="1200" b="1" dirty="0"/>
              <a:t>Current challenges</a:t>
            </a:r>
          </a:p>
          <a:p>
            <a:endParaRPr lang="en-IN" sz="1200" b="1" dirty="0"/>
          </a:p>
          <a:p>
            <a:pPr marL="228600" lvl="0" indent="-228600">
              <a:buFont typeface="+mj-lt"/>
              <a:buAutoNum type="arabicPeriod"/>
            </a:pPr>
            <a:r>
              <a:rPr lang="en-IN" sz="1200" b="1" dirty="0"/>
              <a:t>Sample data: </a:t>
            </a:r>
            <a:r>
              <a:rPr lang="en-IN" sz="1200" dirty="0"/>
              <a:t>The current prototype does not use live electricity or weather data.</a:t>
            </a:r>
          </a:p>
          <a:p>
            <a:pPr marL="228600" lvl="0" indent="-228600">
              <a:buFont typeface="+mj-lt"/>
              <a:buAutoNum type="arabicPeriod"/>
            </a:pPr>
            <a:endParaRPr lang="en-IN" sz="1200" dirty="0"/>
          </a:p>
          <a:p>
            <a:pPr marL="228600" lvl="0" indent="-228600">
              <a:buFont typeface="+mj-lt"/>
              <a:buAutoNum type="arabicPeriod"/>
            </a:pPr>
            <a:r>
              <a:rPr lang="en-IN" sz="1200" b="1" dirty="0"/>
              <a:t>Small problem size: </a:t>
            </a:r>
            <a:r>
              <a:rPr lang="en-IN" sz="1200" dirty="0"/>
              <a:t>Four time slots are enough for a demonstration but not a realistic large energy system.</a:t>
            </a:r>
          </a:p>
          <a:p>
            <a:pPr marL="228600" lvl="0" indent="-228600">
              <a:buFont typeface="+mj-lt"/>
              <a:buAutoNum type="arabicPeriod"/>
            </a:pPr>
            <a:endParaRPr lang="en-IN" sz="1200" dirty="0"/>
          </a:p>
          <a:p>
            <a:pPr marL="228600" lvl="0" indent="-228600">
              <a:buFont typeface="+mj-lt"/>
              <a:buAutoNum type="arabicPeriod"/>
            </a:pPr>
            <a:r>
              <a:rPr lang="en-IN" sz="1200" b="1" dirty="0"/>
              <a:t>QAOA limitations: </a:t>
            </a:r>
            <a:r>
              <a:rPr lang="en-IN" sz="1200" dirty="0"/>
              <a:t>The result depends on parameter selection, circuit depth, and sampling. It may not find the best solution.</a:t>
            </a:r>
          </a:p>
          <a:p>
            <a:pPr marL="228600" lvl="0" indent="-228600">
              <a:buFont typeface="+mj-lt"/>
              <a:buAutoNum type="arabicPeriod"/>
            </a:pPr>
            <a:endParaRPr lang="en-IN" sz="1200" b="1" dirty="0"/>
          </a:p>
          <a:p>
            <a:pPr marL="228600" lvl="0" indent="-228600">
              <a:buFont typeface="+mj-lt"/>
              <a:buAutoNum type="arabicPeriod"/>
            </a:pPr>
            <a:r>
              <a:rPr lang="en-IN" sz="1200" b="1" dirty="0"/>
              <a:t>Classical comparison: </a:t>
            </a:r>
            <a:r>
              <a:rPr lang="en-IN" sz="1200" dirty="0"/>
              <a:t>Classical methods can be very effective for small problems, so quantum methods must be tested fairly.</a:t>
            </a:r>
          </a:p>
          <a:p>
            <a:pPr marL="228600" lvl="0" indent="-228600">
              <a:buFont typeface="+mj-lt"/>
              <a:buAutoNum type="arabicPeriod"/>
            </a:pPr>
            <a:endParaRPr lang="en-IN" sz="1200" dirty="0"/>
          </a:p>
          <a:p>
            <a:pPr marL="228600" lvl="0" indent="-228600">
              <a:buFont typeface="+mj-lt"/>
              <a:buAutoNum type="arabicPeriod"/>
            </a:pPr>
            <a:r>
              <a:rPr lang="en-IN" sz="1200" b="1" dirty="0"/>
              <a:t>No real device control: </a:t>
            </a:r>
            <a:r>
              <a:rPr lang="en-IN" sz="1200" dirty="0"/>
              <a:t>The prototype recommends a schedule but does not control solar equipment, batteries, or electrical loads.</a:t>
            </a:r>
          </a:p>
          <a:p>
            <a:pPr marL="228600" lvl="0" indent="-228600">
              <a:buFont typeface="+mj-lt"/>
              <a:buAutoNum type="arabicPeriod"/>
            </a:pPr>
            <a:endParaRPr lang="en-IN" sz="1200" dirty="0"/>
          </a:p>
          <a:p>
            <a:pPr marL="228600" lvl="0" indent="-228600">
              <a:buFont typeface="+mj-lt"/>
              <a:buAutoNum type="arabicPeriod"/>
            </a:pPr>
            <a:r>
              <a:rPr lang="en-IN" sz="1200" b="1" dirty="0"/>
              <a:t>Limited forecasting: </a:t>
            </a:r>
            <a:r>
              <a:rPr lang="en-IN" sz="1200" dirty="0"/>
              <a:t>It does not yet use a trained AI model to predict future demand or solar generation.</a:t>
            </a:r>
          </a:p>
          <a:p>
            <a:endParaRPr lang="en-IN"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pPr fontAlgn="t"/>
            <a:r>
              <a:rPr lang="en-IN" sz="1100" b="1" dirty="0">
                <a:solidFill>
                  <a:schemeClr val="bg1">
                    <a:lumMod val="50000"/>
                  </a:schemeClr>
                </a:solidFill>
                <a:hlinkClick r:id="rId3">
                  <a:extLst>
                    <a:ext uri="{A12FA001-AC4F-418D-AE19-62706E023703}">
                      <ahyp:hlinkClr xmlns:ahyp="http://schemas.microsoft.com/office/drawing/2018/hyperlinkcolor" val="tx"/>
                    </a:ext>
                  </a:extLst>
                </a:hlinkClick>
              </a:rPr>
              <a:t>vtu-hc-infinity-blaze</a:t>
            </a:r>
            <a:endParaRPr lang="en-IN" sz="1100" dirty="0">
              <a:solidFill>
                <a:schemeClr val="bg1">
                  <a:lumMod val="50000"/>
                </a:schemeClr>
              </a:solidFill>
            </a:endParaRPr>
          </a:p>
          <a:p>
            <a:br>
              <a:rPr lang="en-IN" sz="900" dirty="0"/>
            </a:br>
            <a:endParaRPr lang="en-US" sz="900" dirty="0"/>
          </a:p>
        </p:txBody>
      </p:sp>
      <p:sp>
        <p:nvSpPr>
          <p:cNvPr id="6" name="Field: DEMO VIDEO LINK"/>
          <p:cNvSpPr/>
          <p:nvPr/>
        </p:nvSpPr>
        <p:spPr>
          <a:xfrm>
            <a:off x="283464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a:p>
            <a:r>
              <a:rPr lang="en-US" sz="1200" i="1" dirty="0">
                <a:solidFill>
                  <a:srgbClr val="6F7399"/>
                </a:solidFill>
                <a:latin typeface="Calibri" pitchFamily="34" charset="0"/>
                <a:ea typeface="Calibri" pitchFamily="34" charset="-122"/>
                <a:cs typeface="Calibri" pitchFamily="34" charset="-120"/>
              </a:rPr>
              <a:t>https://youtu.be/sFZE3ewlREs</a:t>
            </a:r>
            <a:endParaRPr lang="en-US" sz="900" dirty="0"/>
          </a:p>
        </p:txBody>
      </p:sp>
      <p:pic>
        <p:nvPicPr>
          <p:cNvPr id="7" name="Bloch sphere ring" descr="sphere.png"/>
          <p:cNvPicPr>
            <a:picLocks noChangeAspect="1"/>
          </p:cNvPicPr>
          <p:nvPr/>
        </p:nvPicPr>
        <p:blipFill>
          <a:blip r:embed="rId4"/>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5"/>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6"/>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7"/>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995</Words>
  <Application>Microsoft Office PowerPoint</Application>
  <PresentationFormat>On-screen Show (16:9)</PresentationFormat>
  <Paragraphs>141</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Georgia</vt:lpstr>
      <vt:lpstr>Nirmala UI</vt:lpstr>
      <vt:lpstr>Qiskit Fall Fest</vt:lpstr>
      <vt:lpstr>PowerPoint Presentation</vt:lpstr>
      <vt:lpstr>Problem Statement</vt:lpstr>
      <vt:lpstr>Objectives &amp; Novelty</vt:lpstr>
      <vt:lpstr>Solution &amp; Quantum Advantage</vt:lpstr>
      <vt:lpstr>Algorithm &amp; Circuit Design</vt:lpstr>
      <vt:lpstr>Implementation &amp; Tech Stack</vt:lpstr>
      <vt:lpstr>Results &amp; Analysis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Purvesh</dc:creator>
  <cp:lastModifiedBy>Purvesh Raghatate</cp:lastModifiedBy>
  <cp:revision>4</cp:revision>
  <dcterms:modified xsi:type="dcterms:W3CDTF">2026-10-23T12:23:33Z</dcterms:modified>
</cp:coreProperties>
</file>